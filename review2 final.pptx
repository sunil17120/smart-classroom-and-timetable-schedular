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7"/>
  </p:notesMasterIdLst>
  <p:sldIdLst>
    <p:sldId id="256" r:id="rId2"/>
    <p:sldId id="274" r:id="rId3"/>
    <p:sldId id="275" r:id="rId4"/>
    <p:sldId id="277" r:id="rId5"/>
    <p:sldId id="286" r:id="rId6"/>
    <p:sldId id="279" r:id="rId7"/>
    <p:sldId id="271" r:id="rId8"/>
    <p:sldId id="272" r:id="rId9"/>
    <p:sldId id="281" r:id="rId10"/>
    <p:sldId id="280" r:id="rId11"/>
    <p:sldId id="284" r:id="rId12"/>
    <p:sldId id="270" r:id="rId13"/>
    <p:sldId id="265" r:id="rId14"/>
    <p:sldId id="28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65D"/>
    <a:srgbClr val="5160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871688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SMART CLASSROOM AND TIMETABLE SCHEDULAR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Number:com_9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a:solidFill>
                  <a:srgbClr val="17365D"/>
                </a:solidFill>
                <a:latin typeface="Cambria" panose="02040503050406030204" pitchFamily="18" charset="0"/>
                <a:ea typeface="Cambria" panose="02040503050406030204" pitchFamily="18" charset="0"/>
                <a:sym typeface="Verdana"/>
              </a:rPr>
              <a:t>Mr. Laxman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Professor of practice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nvGraphicFramePr>
        <p:xfrm>
          <a:off x="197505" y="2721840"/>
          <a:ext cx="5774517" cy="2194620"/>
        </p:xfrm>
        <a:graphic>
          <a:graphicData uri="http://schemas.openxmlformats.org/drawingml/2006/table">
            <a:tbl>
              <a:tblPr firstRow="1" bandRow="1">
                <a:noFill/>
                <a:tableStyleId>{57690726-49DA-4552-BDEB-330DD8EA8BD9}</a:tableStyleId>
              </a:tblPr>
              <a:tblGrid>
                <a:gridCol w="2221921">
                  <a:extLst>
                    <a:ext uri="{9D8B030D-6E8A-4147-A177-3AD203B41FA5}">
                      <a16:colId xmlns:a16="http://schemas.microsoft.com/office/drawing/2014/main" val="20000"/>
                    </a:ext>
                  </a:extLst>
                </a:gridCol>
                <a:gridCol w="3552596">
                  <a:extLst>
                    <a:ext uri="{9D8B030D-6E8A-4147-A177-3AD203B41FA5}">
                      <a16:colId xmlns:a16="http://schemas.microsoft.com/office/drawing/2014/main" val="20001"/>
                    </a:ext>
                  </a:extLst>
                </a:gridCol>
              </a:tblGrid>
              <a:tr h="283512">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3512">
                <a:tc>
                  <a:txBody>
                    <a:bodyPr/>
                    <a:lstStyle/>
                    <a:p>
                      <a:pPr marL="0" marR="0" lvl="0" indent="0" algn="ctr" rtl="0">
                        <a:spcBef>
                          <a:spcPts val="0"/>
                        </a:spcBef>
                        <a:spcAft>
                          <a:spcPts val="0"/>
                        </a:spcAft>
                        <a:buFont typeface="+mj-lt"/>
                        <a:buNone/>
                      </a:pPr>
                      <a:r>
                        <a:rPr lang="en-IN" sz="1800" u="none" strike="noStrike" cap="none" dirty="0"/>
                        <a:t>20221COM0017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err="1"/>
                        <a:t>Nishanka</a:t>
                      </a:r>
                      <a:r>
                        <a:rPr lang="en-IN" sz="1800" u="none" strike="noStrike" cap="none" baseline="0" dirty="0"/>
                        <a:t> M</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83512">
                <a:tc>
                  <a:txBody>
                    <a:bodyPr/>
                    <a:lstStyle/>
                    <a:p>
                      <a:pPr marL="0" marR="0" lvl="0" indent="0" algn="ctr" rtl="0">
                        <a:spcBef>
                          <a:spcPts val="0"/>
                        </a:spcBef>
                        <a:spcAft>
                          <a:spcPts val="0"/>
                        </a:spcAft>
                        <a:buNone/>
                      </a:pPr>
                      <a:r>
                        <a:rPr lang="en-IN" sz="1800" u="none" strike="noStrike" cap="none" dirty="0"/>
                        <a:t>20221COM0031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Krishna</a:t>
                      </a:r>
                      <a:r>
                        <a:rPr lang="en-IN" sz="1800" u="none" strike="noStrike" cap="none" baseline="0" dirty="0"/>
                        <a:t> Sai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3512">
                <a:tc>
                  <a:txBody>
                    <a:bodyPr/>
                    <a:lstStyle/>
                    <a:p>
                      <a:pPr marL="0" marR="0" lvl="0" indent="0" algn="ctr" rtl="0">
                        <a:spcBef>
                          <a:spcPts val="0"/>
                        </a:spcBef>
                        <a:spcAft>
                          <a:spcPts val="0"/>
                        </a:spcAft>
                        <a:buNone/>
                      </a:pPr>
                      <a:r>
                        <a:rPr lang="en-IN" sz="1800" u="none" strike="noStrike" cap="none" dirty="0"/>
                        <a:t>20221COM0034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Sunil</a:t>
                      </a:r>
                      <a:r>
                        <a:rPr lang="en-IN" sz="1800" u="none" strike="noStrike" cap="none" baseline="0" dirty="0"/>
                        <a:t> Kumar </a:t>
                      </a:r>
                      <a:r>
                        <a:rPr lang="en-IN" sz="1800" u="none" strike="noStrike" cap="none" baseline="0" dirty="0" err="1"/>
                        <a:t>Pandab</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351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351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Computer Engineering with specialization in Artificial Intelligence and Machine Learning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Dr. Gopal Krishna Shyam</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chemeClr val="tx1">
                    <a:lumMod val="95000"/>
                    <a:lumOff val="5000"/>
                  </a:schemeClr>
                </a:solidFill>
                <a:latin typeface="Cambria" panose="02040503050406030204" pitchFamily="18" charset="0"/>
                <a:ea typeface="Cambria" panose="02040503050406030204" pitchFamily="18" charset="0"/>
                <a:cs typeface="Verdana"/>
                <a:sym typeface="Verdana"/>
              </a:rPr>
              <a:t>Ms. Sumitha </a:t>
            </a:r>
            <a:r>
              <a:rPr lang="en-US" sz="1800" b="1" i="0" u="none" strike="noStrike" cap="none" dirty="0" err="1">
                <a:solidFill>
                  <a:schemeClr val="tx1">
                    <a:lumMod val="95000"/>
                    <a:lumOff val="5000"/>
                  </a:schemeClr>
                </a:solidFill>
                <a:latin typeface="Cambria" panose="02040503050406030204" pitchFamily="18" charset="0"/>
                <a:ea typeface="Cambria" panose="02040503050406030204" pitchFamily="18" charset="0"/>
                <a:cs typeface="Verdana"/>
                <a:sym typeface="Verdana"/>
              </a:rPr>
              <a:t>Guddin</a:t>
            </a:r>
            <a:endParaRPr lang="en-US" sz="1800" b="1" dirty="0">
              <a:solidFill>
                <a:schemeClr val="tx1">
                  <a:lumMod val="95000"/>
                  <a:lumOff val="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p>
        </p:txBody>
      </p:sp>
      <p:sp>
        <p:nvSpPr>
          <p:cNvPr id="97" name="Google Shape;97;p14"/>
          <p:cNvSpPr txBox="1">
            <a:spLocks noGrp="1"/>
          </p:cNvSpPr>
          <p:nvPr>
            <p:ph type="body" idx="1"/>
          </p:nvPr>
        </p:nvSpPr>
        <p:spPr>
          <a:xfrm>
            <a:off x="594590" y="1323132"/>
            <a:ext cx="5577609" cy="3124062"/>
          </a:xfrm>
          <a:prstGeom prst="rect">
            <a:avLst/>
          </a:prstGeom>
          <a:noFill/>
          <a:ln>
            <a:noFill/>
          </a:ln>
        </p:spPr>
        <p:txBody>
          <a:bodyPr spcFirstLastPara="1" wrap="square" lIns="91425" tIns="45700" rIns="91425" bIns="45700" anchor="t" anchorCtr="0">
            <a:noAutofit/>
          </a:bodyPr>
          <a:lstStyle/>
          <a:p>
            <a:pPr marL="495300" indent="-342900">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a:t>
            </a:r>
          </a:p>
          <a:p>
            <a:pPr marL="495300" indent="-342900">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lvl="0" indent="-342900">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Existing Methods and Drawbacks</a:t>
            </a:r>
          </a:p>
          <a:p>
            <a:pPr marL="495300" lvl="0" indent="-342900">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Proposed Method &amp; Feasibility Study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
        <p:nvSpPr>
          <p:cNvPr id="3" name="TextBox 2"/>
          <p:cNvSpPr txBox="1"/>
          <p:nvPr/>
        </p:nvSpPr>
        <p:spPr>
          <a:xfrm>
            <a:off x="6918037" y="1323132"/>
            <a:ext cx="4752108" cy="3670941"/>
          </a:xfrm>
          <a:prstGeom prst="rect">
            <a:avLst/>
          </a:prstGeom>
          <a:noFill/>
        </p:spPr>
        <p:txBody>
          <a:bodyPr wrap="square">
            <a:spAutoFit/>
          </a:bodyPr>
          <a:lstStyle/>
          <a:p>
            <a:pPr marL="495300" marR="0" lvl="0" indent="-342900" algn="just" defTabSz="914400" rtl="0" eaLnBrk="1" fontAlgn="auto" latinLnBrk="0" hangingPunct="1">
              <a:lnSpc>
                <a:spcPct val="200000"/>
              </a:lnSpc>
              <a:spcBef>
                <a:spcPts val="0"/>
              </a:spcBef>
              <a:spcAft>
                <a:spcPts val="0"/>
              </a:spcAft>
              <a:buClr>
                <a:srgbClr val="000000"/>
              </a:buClr>
              <a:buSzPts val="2400"/>
              <a:buFont typeface="Arial" panose="020B0604020202020204" pitchFamily="34" charset="0"/>
              <a:buChar char="•"/>
              <a:defRPr/>
            </a:pPr>
            <a:r>
              <a:rPr kumimoji="0" lang="en-US" sz="24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sym typeface="Verdana" panose="020B0604030504040204"/>
              </a:rPr>
              <a:t>Architecture Diagram</a:t>
            </a:r>
          </a:p>
          <a:p>
            <a:pPr marL="495300" marR="0" lvl="0" indent="-342900" algn="just" defTabSz="914400" rtl="0" eaLnBrk="1" fontAlgn="auto" latinLnBrk="0" hangingPunct="1">
              <a:lnSpc>
                <a:spcPct val="200000"/>
              </a:lnSpc>
              <a:spcBef>
                <a:spcPts val="0"/>
              </a:spcBef>
              <a:spcAft>
                <a:spcPts val="0"/>
              </a:spcAft>
              <a:buClr>
                <a:srgbClr val="000000"/>
              </a:buClr>
              <a:buSzPts val="2400"/>
              <a:buFont typeface="Arial" panose="020B0604020202020204" pitchFamily="34" charset="0"/>
              <a:buChar char="•"/>
              <a:defRPr/>
            </a:pPr>
            <a:r>
              <a:rPr kumimoji="0" lang="en-US" sz="24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sym typeface="Verdana" panose="020B0604030504040204"/>
              </a:rPr>
              <a:t>Modules</a:t>
            </a:r>
          </a:p>
          <a:p>
            <a:pPr marL="495300" marR="0" lvl="0" indent="-342900" algn="just" defTabSz="914400" rtl="0" eaLnBrk="1" fontAlgn="auto" latinLnBrk="0" hangingPunct="1">
              <a:lnSpc>
                <a:spcPct val="200000"/>
              </a:lnSpc>
              <a:spcBef>
                <a:spcPts val="0"/>
              </a:spcBef>
              <a:spcAft>
                <a:spcPts val="0"/>
              </a:spcAft>
              <a:buClr>
                <a:srgbClr val="000000"/>
              </a:buClr>
              <a:buSzPts val="2400"/>
              <a:buFont typeface="Arial" panose="020B0604020202020204" pitchFamily="34" charset="0"/>
              <a:buChar char="•"/>
              <a:defRPr/>
            </a:pPr>
            <a:r>
              <a:rPr kumimoji="0" lang="en-US" sz="24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sym typeface="Verdana" panose="020B0604030504040204"/>
              </a:rPr>
              <a:t>Hardware and Software Details</a:t>
            </a:r>
          </a:p>
          <a:p>
            <a:pPr marL="495300" marR="0" lvl="0" indent="-342900" algn="just" defTabSz="914400" rtl="0" eaLnBrk="1" fontAlgn="auto" latinLnBrk="0" hangingPunct="1">
              <a:lnSpc>
                <a:spcPct val="200000"/>
              </a:lnSpc>
              <a:spcBef>
                <a:spcPts val="0"/>
              </a:spcBef>
              <a:spcAft>
                <a:spcPts val="0"/>
              </a:spcAft>
              <a:buClr>
                <a:srgbClr val="000000"/>
              </a:buClr>
              <a:buSzPts val="2400"/>
              <a:buFont typeface="Arial" panose="020B0604020202020204" pitchFamily="34" charset="0"/>
              <a:buChar char="•"/>
              <a:defRPr/>
            </a:pPr>
            <a:r>
              <a:rPr kumimoji="0" lang="en-US" sz="24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sym typeface="Verdana" panose="020B0604030504040204"/>
              </a:rPr>
              <a:t>Timeline(Gantt Chart)</a:t>
            </a:r>
          </a:p>
          <a:p>
            <a:pPr marL="495300" marR="0" lvl="0" indent="-342900" algn="just" defTabSz="914400" rtl="0" eaLnBrk="1" fontAlgn="auto" latinLnBrk="0" hangingPunct="1">
              <a:lnSpc>
                <a:spcPct val="200000"/>
              </a:lnSpc>
              <a:spcBef>
                <a:spcPts val="0"/>
              </a:spcBef>
              <a:spcAft>
                <a:spcPts val="0"/>
              </a:spcAft>
              <a:buClr>
                <a:srgbClr val="000000"/>
              </a:buClr>
              <a:buSzPts val="2400"/>
              <a:buFont typeface="Arial" panose="020B0604020202020204" pitchFamily="34" charset="0"/>
              <a:buChar char="•"/>
              <a:defRPr/>
            </a:pPr>
            <a:r>
              <a:rPr kumimoji="0" lang="en-US" sz="24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sym typeface="Verdana" panose="020B0604030504040204"/>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rPr>
              <a:t>Abstract</a:t>
            </a:r>
            <a:endParaRPr lang="en-IN"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657860" y="1035685"/>
            <a:ext cx="10668000" cy="4606290"/>
          </a:xfrm>
        </p:spPr>
        <p:txBody>
          <a:bodyPr>
            <a:noAutofit/>
          </a:bodyPr>
          <a:lstStyle/>
          <a:p>
            <a:pPr marL="76200" indent="0" algn="just">
              <a:buNone/>
            </a:pPr>
            <a:r>
              <a:rPr lang="en-US" sz="1800" dirty="0"/>
              <a:t>University timetable scheduling is a complex </a:t>
            </a:r>
            <a:r>
              <a:rPr lang="en-US" sz="1800" b="1" dirty="0"/>
              <a:t>NP-hard problem</a:t>
            </a:r>
            <a:r>
              <a:rPr lang="en-US" sz="1800" dirty="0"/>
              <a:t> that involves allocating diverse courses, faculty, and classrooms while adhering to numerous overlapping constraints. Traditional manual methods are often inefficient, time-consuming, and prone to scheduling conflicts. This research proposes an </a:t>
            </a:r>
            <a:r>
              <a:rPr lang="en-US" sz="1800" b="1" dirty="0"/>
              <a:t>AI-Optimized Automated Timetable Scheduler</a:t>
            </a:r>
            <a:r>
              <a:rPr lang="en-US" sz="1800" dirty="0"/>
              <a:t> that integrates a hybrid methodology, combining the global search capabilities of </a:t>
            </a:r>
            <a:r>
              <a:rPr lang="en-US" sz="1800" b="1" dirty="0"/>
              <a:t>Genetic Algorithms (GA)</a:t>
            </a:r>
            <a:r>
              <a:rPr lang="en-US" sz="1800" dirty="0"/>
              <a:t> with the localized refinement of </a:t>
            </a:r>
            <a:r>
              <a:rPr lang="en-US" sz="1800" b="1" dirty="0"/>
              <a:t>Spotted Hyena Optimization (SHO)</a:t>
            </a:r>
            <a:r>
              <a:rPr lang="en-US" sz="1800" dirty="0"/>
              <a:t> and </a:t>
            </a:r>
            <a:r>
              <a:rPr lang="en-US" sz="1800" b="1" dirty="0"/>
              <a:t>Simulated Annealing (SA)</a:t>
            </a:r>
            <a:r>
              <a:rPr lang="en-US" sz="1800" dirty="0"/>
              <a:t>. The system utilizes a modular </a:t>
            </a:r>
            <a:r>
              <a:rPr lang="en-US" sz="1800" b="1" dirty="0"/>
              <a:t>Flask-Python</a:t>
            </a:r>
            <a:r>
              <a:rPr lang="en-US" sz="1800" dirty="0"/>
              <a:t> backend and a </a:t>
            </a:r>
            <a:r>
              <a:rPr lang="en-US" sz="1800" b="1" dirty="0"/>
              <a:t>React JS</a:t>
            </a:r>
            <a:r>
              <a:rPr lang="en-US" sz="1800" dirty="0"/>
              <a:t> frontend to provide a user-friendly, scalable interface for conflict-free scheduling. Experimental results indicate that this hybrid approach significantly improves schedule quality by minimizing violations of "soft constraints," such as faculty preferences and room utilization. Ultimately, this system modernizes academic planning, reducing administrative workload and enhancing resource allocation efficiency.</a:t>
            </a:r>
            <a:endParaRPr lang="en-US" altLang="en-US" sz="18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304979"/>
            <a:ext cx="10668000" cy="487500"/>
          </a:xfrm>
        </p:spPr>
        <p:txBody>
          <a:bodyPr/>
          <a:lstStyle/>
          <a:p>
            <a:r>
              <a:rPr lang="en-US" dirty="0">
                <a:latin typeface="Cambria" panose="02040503050406030204" pitchFamily="18" charset="0"/>
                <a:ea typeface="Cambria" panose="02040503050406030204" pitchFamily="18" charset="0"/>
              </a:rPr>
              <a:t>LITERATURE SURVEY</a:t>
            </a:r>
            <a:endParaRPr lang="en-IN"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653415" y="952500"/>
            <a:ext cx="10668000" cy="4953000"/>
          </a:xfrm>
        </p:spPr>
        <p:txBody>
          <a:bodyPr>
            <a:noAutofit/>
          </a:bodyPr>
          <a:lstStyle/>
          <a:p>
            <a:pPr marL="76200" indent="0">
              <a:buNone/>
            </a:pPr>
            <a:r>
              <a:rPr lang="en-US" sz="1600" b="1" dirty="0"/>
              <a:t>1. Swarm Intelligence &amp; Nature-Inspired Optimization</a:t>
            </a:r>
          </a:p>
          <a:p>
            <a:pPr>
              <a:buFont typeface="Wingdings" panose="05000000000000000000" pitchFamily="2" charset="2"/>
              <a:buChar char="§"/>
            </a:pPr>
            <a:r>
              <a:rPr lang="en-US" sz="1600" dirty="0"/>
              <a:t> </a:t>
            </a:r>
            <a:r>
              <a:rPr lang="en-US" sz="1600" b="1" i="1" dirty="0"/>
              <a:t>Van Du Nguyen &amp; Tram Nguyen (2021)</a:t>
            </a:r>
            <a:r>
              <a:rPr lang="en-US" sz="1600" b="1" dirty="0"/>
              <a:t> - "An SHO-based approach to timetable scheduling"</a:t>
            </a:r>
          </a:p>
          <a:p>
            <a:pPr marL="558800" lvl="1" indent="0">
              <a:buNone/>
            </a:pPr>
            <a:r>
              <a:rPr lang="en-US" sz="1600" b="1" dirty="0"/>
              <a:t>Objective:</a:t>
            </a:r>
            <a:r>
              <a:rPr lang="en-US" sz="1600" dirty="0"/>
              <a:t> To improve the quality of high school and university timetables using social-behavioral algorithms.</a:t>
            </a:r>
          </a:p>
          <a:p>
            <a:pPr marL="558800" lvl="1" indent="0">
              <a:buNone/>
            </a:pPr>
            <a:r>
              <a:rPr lang="en-US" sz="1600" b="1" dirty="0"/>
              <a:t>Methodology:</a:t>
            </a:r>
            <a:r>
              <a:rPr lang="en-US" sz="1600" dirty="0"/>
              <a:t> </a:t>
            </a:r>
            <a:r>
              <a:rPr lang="en-US" sz="1600" b="1" dirty="0"/>
              <a:t>Spotted Hyena Optimizer (SHO)</a:t>
            </a:r>
            <a:r>
              <a:rPr lang="en-US" sz="1600" dirty="0"/>
              <a:t> integrated with </a:t>
            </a:r>
            <a:r>
              <a:rPr lang="en-US" sz="1600" b="1" dirty="0"/>
              <a:t>Simulated Annealing (SA)</a:t>
            </a:r>
            <a:r>
              <a:rPr lang="en-US" sz="1600" dirty="0"/>
              <a:t>. It uses a "swap sequence" to move from current schedules to better ones.</a:t>
            </a:r>
          </a:p>
          <a:p>
            <a:pPr marL="558800" lvl="1" indent="0">
              <a:buNone/>
            </a:pPr>
            <a:r>
              <a:rPr lang="en-US" sz="1600" b="1" dirty="0"/>
              <a:t>Findings/Drawbacks:</a:t>
            </a:r>
            <a:r>
              <a:rPr lang="en-US" sz="1600" dirty="0"/>
              <a:t> Achieves high-quality results by mimicking social dependency. However, the execution time is higher compared to standard Particle Swarm Optimization (PSO).</a:t>
            </a:r>
          </a:p>
          <a:p>
            <a:pPr>
              <a:buFont typeface="Wingdings" panose="05000000000000000000" pitchFamily="2" charset="2"/>
              <a:buChar char="§"/>
            </a:pPr>
            <a:r>
              <a:rPr lang="en-US" sz="1600" b="1" i="1" dirty="0"/>
              <a:t>Alireza Goli et al. (2019)</a:t>
            </a:r>
            <a:r>
              <a:rPr lang="en-US" sz="1600" b="1" dirty="0"/>
              <a:t> - "Solving a University Exam Scheduling Problem"</a:t>
            </a:r>
          </a:p>
          <a:p>
            <a:pPr marL="558800" lvl="1" indent="0">
              <a:buNone/>
            </a:pPr>
            <a:r>
              <a:rPr lang="en-US" sz="1600" b="1" dirty="0"/>
              <a:t>Objective:</a:t>
            </a:r>
            <a:r>
              <a:rPr lang="en-US" sz="1600" dirty="0"/>
              <a:t> Specifically targeting exam scheduling to minimize student fatigue and consecutive exams.</a:t>
            </a:r>
          </a:p>
          <a:p>
            <a:pPr marL="558800" lvl="1" indent="0">
              <a:buNone/>
            </a:pPr>
            <a:r>
              <a:rPr lang="en-US" sz="1600" b="1" dirty="0"/>
              <a:t>Methodology:</a:t>
            </a:r>
            <a:r>
              <a:rPr lang="en-US" sz="1600" dirty="0"/>
              <a:t> </a:t>
            </a:r>
            <a:r>
              <a:rPr lang="en-US" sz="1600" b="1" dirty="0"/>
              <a:t>Firefly Algorithm (FA)</a:t>
            </a:r>
            <a:r>
              <a:rPr lang="en-US" sz="1600" dirty="0"/>
              <a:t> vs. </a:t>
            </a:r>
            <a:r>
              <a:rPr lang="en-US" sz="1600" b="1" dirty="0"/>
              <a:t>Genetic Algorithm (GA)</a:t>
            </a:r>
            <a:r>
              <a:rPr lang="en-US" sz="1600" dirty="0"/>
              <a:t>.</a:t>
            </a:r>
          </a:p>
          <a:p>
            <a:pPr marL="558800" lvl="1" indent="0">
              <a:buNone/>
            </a:pPr>
            <a:r>
              <a:rPr lang="en-US" sz="1600" b="1" dirty="0"/>
              <a:t>Findings/Drawbacks:</a:t>
            </a:r>
            <a:r>
              <a:rPr lang="en-US" sz="1600" dirty="0"/>
              <a:t> FA outperformed GA in finding "best fitness" (the most optimized schedule) but was significantly slower in computational processing.</a:t>
            </a:r>
          </a:p>
          <a:p>
            <a:pPr marL="558800" lvl="1" indent="0">
              <a:buNone/>
            </a:pPr>
            <a:endParaRPr lang="en-US" sz="1200" dirty="0"/>
          </a:p>
          <a:p>
            <a:pPr marL="0" indent="0">
              <a:buNone/>
            </a:pPr>
            <a:br>
              <a:rPr sz="1200" dirty="0">
                <a:latin typeface="Cambria" panose="02040503050406030204" pitchFamily="18" charset="0"/>
                <a:ea typeface="Cambria" panose="02040503050406030204" pitchFamily="18" charset="0"/>
                <a:sym typeface="+mn-ea"/>
              </a:rPr>
            </a:br>
            <a:endParaRPr lang="en-US" sz="1200" dirty="0">
              <a:latin typeface="Cambria" panose="02040503050406030204" pitchFamily="18" charset="0"/>
              <a:ea typeface="Cambria" panose="020405030504060302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C574-8B84-B9ED-A1BA-A8F2D224ED7D}"/>
              </a:ext>
            </a:extLst>
          </p:cNvPr>
          <p:cNvSpPr>
            <a:spLocks noGrp="1"/>
          </p:cNvSpPr>
          <p:nvPr>
            <p:ph type="title"/>
          </p:nvPr>
        </p:nvSpPr>
        <p:spPr>
          <a:xfrm>
            <a:off x="793136" y="343463"/>
            <a:ext cx="7721700" cy="487500"/>
          </a:xfrm>
        </p:spPr>
        <p:txBody>
          <a:bodyPr/>
          <a:lstStyle/>
          <a:p>
            <a:r>
              <a:rPr lang="en-US" dirty="0">
                <a:solidFill>
                  <a:srgbClr val="17365D"/>
                </a:solidFill>
                <a:latin typeface="Cambria" panose="02040503050406030204" pitchFamily="18" charset="0"/>
                <a:ea typeface="Cambria" panose="02040503050406030204" pitchFamily="18" charset="0"/>
              </a:rPr>
              <a:t>LITERATURE SURVEY</a:t>
            </a:r>
            <a:endParaRPr lang="en-IN" dirty="0">
              <a:solidFill>
                <a:srgbClr val="17365D"/>
              </a:solidFill>
            </a:endParaRPr>
          </a:p>
        </p:txBody>
      </p:sp>
      <p:sp>
        <p:nvSpPr>
          <p:cNvPr id="6" name="TextBox 5">
            <a:extLst>
              <a:ext uri="{FF2B5EF4-FFF2-40B4-BE49-F238E27FC236}">
                <a16:creationId xmlns:a16="http://schemas.microsoft.com/office/drawing/2014/main" id="{18D7670D-C3DB-6FEF-1BBE-4F726A10BD55}"/>
              </a:ext>
            </a:extLst>
          </p:cNvPr>
          <p:cNvSpPr txBox="1"/>
          <p:nvPr/>
        </p:nvSpPr>
        <p:spPr>
          <a:xfrm>
            <a:off x="619431" y="1230856"/>
            <a:ext cx="10864645" cy="3108543"/>
          </a:xfrm>
          <a:prstGeom prst="rect">
            <a:avLst/>
          </a:prstGeom>
          <a:noFill/>
        </p:spPr>
        <p:txBody>
          <a:bodyPr wrap="square">
            <a:spAutoFit/>
          </a:bodyPr>
          <a:lstStyle/>
          <a:p>
            <a:pPr>
              <a:buNone/>
            </a:pPr>
            <a:r>
              <a:rPr lang="en-US" sz="2000" b="1" dirty="0"/>
              <a:t>2. Evolutionary &amp; AI-Optimized Web Systems</a:t>
            </a:r>
          </a:p>
          <a:p>
            <a:pPr marL="285750" indent="-285750">
              <a:buFont typeface="Wingdings" panose="05000000000000000000" pitchFamily="2" charset="2"/>
              <a:buChar char="§"/>
            </a:pPr>
            <a:r>
              <a:rPr lang="en-US" sz="1600" b="1" i="1" dirty="0"/>
              <a:t>Suraj Kumar Saw et al. (2025)</a:t>
            </a:r>
            <a:r>
              <a:rPr lang="en-US" sz="1600" b="1" dirty="0"/>
              <a:t> - "Adaptive Scheduler: AI Optimization of Academic Timetable"</a:t>
            </a:r>
          </a:p>
          <a:p>
            <a:pPr marL="457200" lvl="1"/>
            <a:r>
              <a:rPr lang="en-US" sz="1600" b="1" dirty="0"/>
              <a:t>Objective:</a:t>
            </a:r>
            <a:r>
              <a:rPr lang="en-US" sz="1600" dirty="0"/>
              <a:t> To create a dynamic, user-friendly academic scheduler for faculty and classrooms.</a:t>
            </a:r>
          </a:p>
          <a:p>
            <a:pPr marL="457200" lvl="1"/>
            <a:r>
              <a:rPr lang="en-US" sz="1600" b="1" dirty="0"/>
              <a:t>Methodology:</a:t>
            </a:r>
            <a:r>
              <a:rPr lang="en-US" sz="1600" dirty="0"/>
              <a:t> A hybrid of </a:t>
            </a:r>
            <a:r>
              <a:rPr lang="en-US" sz="1600" b="1" dirty="0"/>
              <a:t>Genetic Algorithms (GA)</a:t>
            </a:r>
            <a:r>
              <a:rPr lang="en-US" sz="1600" dirty="0"/>
              <a:t> and </a:t>
            </a:r>
            <a:r>
              <a:rPr lang="en-US" sz="1600" b="1" dirty="0"/>
              <a:t>Machine Learning</a:t>
            </a:r>
            <a:r>
              <a:rPr lang="en-US" sz="1600" dirty="0"/>
              <a:t> for adaptive scheduling. Built using a </a:t>
            </a:r>
            <a:r>
              <a:rPr lang="en-US" sz="1600" b="1" dirty="0"/>
              <a:t>Flask-Python</a:t>
            </a:r>
            <a:r>
              <a:rPr lang="en-US" sz="1600" dirty="0"/>
              <a:t> backend.</a:t>
            </a:r>
          </a:p>
          <a:p>
            <a:pPr marL="457200" lvl="1"/>
            <a:r>
              <a:rPr lang="en-US" sz="1600" b="1" dirty="0"/>
              <a:t>Findings/Drawbacks:</a:t>
            </a:r>
            <a:r>
              <a:rPr lang="en-US" sz="1600" dirty="0"/>
              <a:t> Excellent for generating conflict-free schedules and provides PDF exports. Limitation: It lacks a module for immediate "emergency" rescheduling when a faculty member is suddenly absent.</a:t>
            </a:r>
          </a:p>
          <a:p>
            <a:pPr marL="285750" indent="-285750">
              <a:buFont typeface="Wingdings" panose="05000000000000000000" pitchFamily="2" charset="2"/>
              <a:buChar char="§"/>
            </a:pPr>
            <a:r>
              <a:rPr lang="en-US" sz="1600" dirty="0"/>
              <a:t> </a:t>
            </a:r>
            <a:r>
              <a:rPr lang="en-US" sz="1600" b="1" i="1" dirty="0"/>
              <a:t>Anna Firer et al. (2025)</a:t>
            </a:r>
            <a:r>
              <a:rPr lang="en-US" sz="1600" b="1" dirty="0"/>
              <a:t> - "Class Schedule WEB Application"</a:t>
            </a:r>
          </a:p>
          <a:p>
            <a:pPr marL="457200" lvl="1"/>
            <a:r>
              <a:rPr lang="en-US" sz="1600" b="1" dirty="0"/>
              <a:t>Objective:</a:t>
            </a:r>
            <a:r>
              <a:rPr lang="en-US" sz="1600" dirty="0"/>
              <a:t> Automating university management through a client-server web interface.</a:t>
            </a:r>
          </a:p>
          <a:p>
            <a:pPr marL="457200" lvl="1"/>
            <a:r>
              <a:rPr lang="en-US" sz="1600" b="1" dirty="0"/>
              <a:t>Methodology:</a:t>
            </a:r>
            <a:r>
              <a:rPr lang="en-US" sz="1600" dirty="0"/>
              <a:t> </a:t>
            </a:r>
            <a:r>
              <a:rPr lang="en-US" sz="1600" b="1" dirty="0"/>
              <a:t>React JS</a:t>
            </a:r>
            <a:r>
              <a:rPr lang="en-US" sz="1600" dirty="0"/>
              <a:t> for frontend and </a:t>
            </a:r>
            <a:r>
              <a:rPr lang="en-US" sz="1600" b="1" dirty="0"/>
              <a:t>Python/Flask</a:t>
            </a:r>
            <a:r>
              <a:rPr lang="en-US" sz="1600" dirty="0"/>
              <a:t> for backend, utilizing </a:t>
            </a:r>
            <a:r>
              <a:rPr lang="en-US" sz="1600" b="1" dirty="0"/>
              <a:t>GA</a:t>
            </a:r>
            <a:r>
              <a:rPr lang="en-US" sz="1600" dirty="0"/>
              <a:t> for automated management.</a:t>
            </a:r>
          </a:p>
          <a:p>
            <a:pPr marL="457200" lvl="1"/>
            <a:r>
              <a:rPr lang="en-US" sz="1600" b="1" dirty="0"/>
              <a:t>Findings/Drawbacks:</a:t>
            </a:r>
            <a:r>
              <a:rPr lang="en-US" sz="1600" dirty="0"/>
              <a:t> Focuses on "Clean Architecture" for modularity. While stable, performance may lag as the number of student groups and specialized labs increases.</a:t>
            </a:r>
          </a:p>
        </p:txBody>
      </p:sp>
    </p:spTree>
    <p:extLst>
      <p:ext uri="{BB962C8B-B14F-4D97-AF65-F5344CB8AC3E}">
        <p14:creationId xmlns:p14="http://schemas.microsoft.com/office/powerpoint/2010/main" val="3500437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304979"/>
            <a:ext cx="10668000" cy="487500"/>
          </a:xfrm>
        </p:spPr>
        <p:txBody>
          <a:bodyPr/>
          <a:lstStyle/>
          <a:p>
            <a:r>
              <a:rPr lang="en-US" dirty="0">
                <a:latin typeface="Cambria" panose="02040503050406030204" pitchFamily="18" charset="0"/>
                <a:ea typeface="Cambria" panose="02040503050406030204" pitchFamily="18" charset="0"/>
              </a:rPr>
              <a:t>LITERATURE SURVEY</a:t>
            </a:r>
            <a:endParaRPr lang="en-IN"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653415" y="952500"/>
            <a:ext cx="10668000" cy="5227955"/>
          </a:xfrm>
        </p:spPr>
        <p:txBody>
          <a:bodyPr>
            <a:noAutofit/>
          </a:bodyPr>
          <a:lstStyle/>
          <a:p>
            <a:pPr marL="76200" indent="0">
              <a:buNone/>
            </a:pPr>
            <a:r>
              <a:rPr lang="en-US" sz="1600" b="1" dirty="0"/>
              <a:t>3. Constraint-Based &amp; Automated College Tools</a:t>
            </a:r>
          </a:p>
          <a:p>
            <a:pPr>
              <a:buFont typeface="Wingdings" panose="05000000000000000000" pitchFamily="2" charset="2"/>
              <a:buChar char="§"/>
            </a:pPr>
            <a:r>
              <a:rPr lang="en-US" sz="1600" b="1" i="1" dirty="0"/>
              <a:t>Prof. </a:t>
            </a:r>
            <a:r>
              <a:rPr lang="en-US" sz="1600" b="1" i="1" dirty="0" err="1"/>
              <a:t>Wrushabh</a:t>
            </a:r>
            <a:r>
              <a:rPr lang="en-US" sz="1600" b="1" i="1" dirty="0"/>
              <a:t> </a:t>
            </a:r>
            <a:r>
              <a:rPr lang="en-US" sz="1600" b="1" i="1" dirty="0" err="1"/>
              <a:t>Shirsat</a:t>
            </a:r>
            <a:r>
              <a:rPr lang="en-US" sz="1600" b="1" i="1" dirty="0"/>
              <a:t> et al. (2025)</a:t>
            </a:r>
            <a:r>
              <a:rPr lang="en-US" sz="1600" b="1" dirty="0"/>
              <a:t> - "Automated Timetable Scheduler for Colleges"</a:t>
            </a:r>
          </a:p>
          <a:p>
            <a:pPr marL="558800" lvl="1" indent="0">
              <a:buNone/>
            </a:pPr>
            <a:r>
              <a:rPr lang="en-US" sz="1600" b="1" dirty="0"/>
              <a:t>Objective:</a:t>
            </a:r>
            <a:r>
              <a:rPr lang="en-US" sz="1600" dirty="0"/>
              <a:t> To reduce manual effort in college planning and ensure 100% adherence to faculty availability.</a:t>
            </a:r>
          </a:p>
          <a:p>
            <a:pPr marL="558800" lvl="1" indent="0">
              <a:buNone/>
            </a:pPr>
            <a:r>
              <a:rPr lang="en-US" sz="1600" b="1" dirty="0"/>
              <a:t>Methodology:</a:t>
            </a:r>
            <a:r>
              <a:rPr lang="en-US" sz="1600" dirty="0"/>
              <a:t> </a:t>
            </a:r>
            <a:r>
              <a:rPr lang="en-US" sz="1600" b="1" dirty="0"/>
              <a:t>Rule-Based Constraint Satisfaction</a:t>
            </a:r>
            <a:r>
              <a:rPr lang="en-US" sz="1600" dirty="0"/>
              <a:t> and automated generation logic.</a:t>
            </a:r>
          </a:p>
          <a:p>
            <a:pPr marL="558800" lvl="1" indent="0">
              <a:buNone/>
            </a:pPr>
            <a:r>
              <a:rPr lang="en-US" sz="1600" b="1" dirty="0"/>
              <a:t>Findings/Drawbacks:</a:t>
            </a:r>
            <a:r>
              <a:rPr lang="en-US" sz="1600" dirty="0"/>
              <a:t> High ease of use for non-technical administrators. The drawback is its rigidity; it struggles with complex, cross-departmental shared resources.</a:t>
            </a:r>
          </a:p>
          <a:p>
            <a:pPr>
              <a:buFont typeface="Wingdings" panose="05000000000000000000" pitchFamily="2" charset="2"/>
              <a:buChar char="§"/>
            </a:pPr>
            <a:r>
              <a:rPr lang="en-US" sz="1600" dirty="0"/>
              <a:t> </a:t>
            </a:r>
            <a:r>
              <a:rPr lang="en-US" sz="1600" b="1" i="1" dirty="0"/>
              <a:t>M. K. Mohamed Faizal (2022)</a:t>
            </a:r>
            <a:r>
              <a:rPr lang="en-US" sz="1600" b="1" dirty="0"/>
              <a:t> - "College Timetable using Time Scheduling Algorithm"</a:t>
            </a:r>
          </a:p>
          <a:p>
            <a:pPr marL="558800" lvl="1" indent="0">
              <a:buNone/>
            </a:pPr>
            <a:r>
              <a:rPr lang="en-US" sz="1600" b="1" dirty="0"/>
              <a:t>Objective:</a:t>
            </a:r>
            <a:r>
              <a:rPr lang="en-US" sz="1600" dirty="0"/>
              <a:t> Managing department-wise schedules and automating alternative staff allocation.</a:t>
            </a:r>
          </a:p>
          <a:p>
            <a:pPr marL="558800" lvl="1" indent="0">
              <a:buNone/>
            </a:pPr>
            <a:r>
              <a:rPr lang="en-US" sz="1600" b="1" dirty="0"/>
              <a:t>Methodology:</a:t>
            </a:r>
            <a:r>
              <a:rPr lang="en-US" sz="1600" dirty="0"/>
              <a:t> </a:t>
            </a:r>
            <a:r>
              <a:rPr lang="en-US" sz="1600" b="1" dirty="0"/>
              <a:t>Data Category Algorithm</a:t>
            </a:r>
            <a:r>
              <a:rPr lang="en-US" sz="1600" dirty="0"/>
              <a:t> combined with </a:t>
            </a:r>
            <a:r>
              <a:rPr lang="en-US" sz="1600" b="1" dirty="0"/>
              <a:t>Artificial Neural Networks (ANN)</a:t>
            </a:r>
            <a:r>
              <a:rPr lang="en-US" sz="1600" dirty="0"/>
              <a:t>.</a:t>
            </a:r>
          </a:p>
          <a:p>
            <a:pPr marL="558800" lvl="1" indent="0">
              <a:buNone/>
            </a:pPr>
            <a:r>
              <a:rPr lang="en-US" sz="1600" b="1" dirty="0"/>
              <a:t>Findings/Drawbacks:</a:t>
            </a:r>
            <a:r>
              <a:rPr lang="en-US" sz="1600" dirty="0"/>
              <a:t> Unique feature of allocating "alternative staff" automatically. However, ANN-based scheduling can be "opaque," making it difficult for admins to see </a:t>
            </a:r>
            <a:r>
              <a:rPr lang="en-US" sz="1600" i="1" dirty="0"/>
              <a:t>why</a:t>
            </a:r>
            <a:r>
              <a:rPr lang="en-US" sz="1600" dirty="0"/>
              <a:t> a certain slot was assigned.</a:t>
            </a:r>
          </a:p>
          <a:p>
            <a:pPr marL="0" indent="0">
              <a:buNone/>
            </a:pPr>
            <a:br>
              <a:rPr sz="2000" dirty="0">
                <a:latin typeface="Cambria" panose="02040503050406030204" pitchFamily="18" charset="0"/>
                <a:ea typeface="Cambria" panose="02040503050406030204" pitchFamily="18" charset="0"/>
                <a:sym typeface="+mn-ea"/>
              </a:rPr>
            </a:br>
            <a:br>
              <a:rPr sz="2000" dirty="0">
                <a:latin typeface="Cambria" panose="02040503050406030204" pitchFamily="18" charset="0"/>
                <a:ea typeface="Cambria" panose="02040503050406030204" pitchFamily="18" charset="0"/>
                <a:sym typeface="+mn-ea"/>
              </a:rPr>
            </a:br>
            <a:br>
              <a:rPr sz="2000" dirty="0">
                <a:latin typeface="Cambria" panose="02040503050406030204" pitchFamily="18" charset="0"/>
                <a:ea typeface="Cambria" panose="02040503050406030204" pitchFamily="18" charset="0"/>
                <a:sym typeface="+mn-ea"/>
              </a:rPr>
            </a:br>
            <a:br>
              <a:rPr sz="2000" dirty="0">
                <a:latin typeface="Cambria" panose="02040503050406030204" pitchFamily="18" charset="0"/>
                <a:ea typeface="Cambria" panose="02040503050406030204" pitchFamily="18" charset="0"/>
                <a:sym typeface="+mn-ea"/>
              </a:rPr>
            </a:br>
            <a:endParaRPr lang="en-US" sz="2000" dirty="0">
              <a:latin typeface="Cambria" panose="02040503050406030204" pitchFamily="18" charset="0"/>
              <a:ea typeface="Cambria" panose="020405030504060302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a:buFont typeface="Arial" panose="020B0604020202020204" pitchFamily="34" charset="0"/>
              <a:buChar char="•"/>
            </a:pPr>
            <a:r>
              <a:rPr lang="en-US" sz="1600" b="1" dirty="0"/>
              <a:t>The Problem: NP-Hard Complexity</a:t>
            </a:r>
            <a:r>
              <a:rPr lang="en-US" sz="1600" dirty="0"/>
              <a:t> Timetabling is classified as an </a:t>
            </a:r>
            <a:r>
              <a:rPr lang="en-US" sz="1600" b="1" dirty="0"/>
              <a:t>NP-Hard problem</a:t>
            </a:r>
            <a:r>
              <a:rPr lang="en-US" sz="1600" dirty="0"/>
              <a:t> because the number of possible schedule combinations grows exponentially with every new teacher, room, or subject added. This "massive search space" means there is no simple formula to find the perfect solution; instead, the system must use advanced AI or heuristic algorithms to explore billions of possibilities to find an optimal one.</a:t>
            </a:r>
          </a:p>
          <a:p>
            <a:pPr algn="just">
              <a:buFont typeface="Arial" panose="020B0604020202020204" pitchFamily="34" charset="0"/>
              <a:buChar char="•"/>
            </a:pPr>
            <a:r>
              <a:rPr lang="en-US" sz="1600" b="1" dirty="0"/>
              <a:t>Manual Challenges &amp; Hard Constraints</a:t>
            </a:r>
            <a:r>
              <a:rPr lang="en-US" sz="1600" dirty="0"/>
              <a:t> Creating a schedule manually is labor-intensive and highly susceptible to human error, such as booking two classes in the same room simultaneously. Managing </a:t>
            </a:r>
            <a:r>
              <a:rPr lang="en-US" sz="1600" b="1" dirty="0"/>
              <a:t>"Hard Constraints"</a:t>
            </a:r>
            <a:r>
              <a:rPr lang="en-US" sz="1600" dirty="0"/>
              <a:t>—rules that are physically impossible to break (e.g., a teacher cannot be in two places at once)—becomes a logistical nightmare when done on paper or basic spreadsheets.</a:t>
            </a:r>
          </a:p>
          <a:p>
            <a:pPr algn="just">
              <a:buFont typeface="Arial" panose="020B0604020202020204" pitchFamily="34" charset="0"/>
              <a:buChar char="•"/>
            </a:pPr>
            <a:r>
              <a:rPr lang="en-US" sz="1600" b="1" dirty="0"/>
              <a:t>Goal: Balancing Automation and Satisfaction</a:t>
            </a:r>
            <a:r>
              <a:rPr lang="en-US" sz="1600" dirty="0"/>
              <a:t> The primary objective is to automate the generation of a 100% conflict-free schedule that respects all hard constraints. Beyond basic logic, the system aims to optimize </a:t>
            </a:r>
            <a:r>
              <a:rPr lang="en-US" sz="1600" b="1" dirty="0"/>
              <a:t>"Soft Constraints,"</a:t>
            </a:r>
            <a:r>
              <a:rPr lang="en-US" sz="1600" dirty="0"/>
              <a:t> which improve quality of life, such as minimizing long gaps between classes for students or honoring a faculty member's preferred teaching hours.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solidFill>
                  <a:srgbClr val="516074"/>
                </a:solidFill>
                <a:sym typeface="+mn-ea"/>
              </a:rPr>
              <a:t>Existing methods and drawbacks:</a:t>
            </a:r>
            <a:endParaRPr lang="en-US" dirty="0">
              <a:solidFill>
                <a:srgbClr val="516074"/>
              </a:solidFill>
              <a:latin typeface="Cambria" panose="02040503050406030204" pitchFamily="18" charset="0"/>
              <a:ea typeface="Cambria" panose="02040503050406030204" pitchFamily="18" charset="0"/>
              <a:sym typeface="+mn-ea"/>
            </a:endParaRPr>
          </a:p>
        </p:txBody>
      </p:sp>
      <p:graphicFrame>
        <p:nvGraphicFramePr>
          <p:cNvPr id="2" name="Table 1">
            <a:extLst>
              <a:ext uri="{FF2B5EF4-FFF2-40B4-BE49-F238E27FC236}">
                <a16:creationId xmlns:a16="http://schemas.microsoft.com/office/drawing/2014/main" id="{74A05E4C-637F-E5AD-EBD2-239CA34E6EAF}"/>
              </a:ext>
            </a:extLst>
          </p:cNvPr>
          <p:cNvGraphicFramePr>
            <a:graphicFrameLocks noGrp="1"/>
          </p:cNvGraphicFramePr>
          <p:nvPr>
            <p:extLst>
              <p:ext uri="{D42A27DB-BD31-4B8C-83A1-F6EECF244321}">
                <p14:modId xmlns:p14="http://schemas.microsoft.com/office/powerpoint/2010/main" val="3306625318"/>
              </p:ext>
            </p:extLst>
          </p:nvPr>
        </p:nvGraphicFramePr>
        <p:xfrm>
          <a:off x="812800" y="1260987"/>
          <a:ext cx="10668000" cy="3962400"/>
        </p:xfrm>
        <a:graphic>
          <a:graphicData uri="http://schemas.openxmlformats.org/drawingml/2006/table">
            <a:tbl>
              <a:tblPr/>
              <a:tblGrid>
                <a:gridCol w="2667000">
                  <a:extLst>
                    <a:ext uri="{9D8B030D-6E8A-4147-A177-3AD203B41FA5}">
                      <a16:colId xmlns:a16="http://schemas.microsoft.com/office/drawing/2014/main" val="2416395965"/>
                    </a:ext>
                  </a:extLst>
                </a:gridCol>
                <a:gridCol w="2667000">
                  <a:extLst>
                    <a:ext uri="{9D8B030D-6E8A-4147-A177-3AD203B41FA5}">
                      <a16:colId xmlns:a16="http://schemas.microsoft.com/office/drawing/2014/main" val="3030338739"/>
                    </a:ext>
                  </a:extLst>
                </a:gridCol>
                <a:gridCol w="2667000">
                  <a:extLst>
                    <a:ext uri="{9D8B030D-6E8A-4147-A177-3AD203B41FA5}">
                      <a16:colId xmlns:a16="http://schemas.microsoft.com/office/drawing/2014/main" val="3077122679"/>
                    </a:ext>
                  </a:extLst>
                </a:gridCol>
                <a:gridCol w="2667000">
                  <a:extLst>
                    <a:ext uri="{9D8B030D-6E8A-4147-A177-3AD203B41FA5}">
                      <a16:colId xmlns:a16="http://schemas.microsoft.com/office/drawing/2014/main" val="386563524"/>
                    </a:ext>
                  </a:extLst>
                </a:gridCol>
              </a:tblGrid>
              <a:tr h="0">
                <a:tc>
                  <a:txBody>
                    <a:bodyPr/>
                    <a:lstStyle/>
                    <a:p>
                      <a:pPr>
                        <a:buNone/>
                      </a:pPr>
                      <a:r>
                        <a:rPr lang="en-IN" dirty="0"/>
                        <a:t>Methodology </a:t>
                      </a:r>
                    </a:p>
                  </a:txBody>
                  <a:tcPr anchor="ctr">
                    <a:lnL>
                      <a:noFill/>
                    </a:lnL>
                    <a:lnR>
                      <a:noFill/>
                    </a:lnR>
                    <a:lnT>
                      <a:noFill/>
                    </a:lnT>
                    <a:lnB>
                      <a:noFill/>
                    </a:lnB>
                    <a:noFill/>
                  </a:tcPr>
                </a:tc>
                <a:tc>
                  <a:txBody>
                    <a:bodyPr/>
                    <a:lstStyle/>
                    <a:p>
                      <a:pPr>
                        <a:buNone/>
                      </a:pPr>
                      <a:r>
                        <a:rPr lang="en-IN" dirty="0"/>
                        <a:t>Algorithm(s) </a:t>
                      </a:r>
                    </a:p>
                  </a:txBody>
                  <a:tcPr anchor="ctr">
                    <a:lnL>
                      <a:noFill/>
                    </a:lnL>
                    <a:lnR>
                      <a:noFill/>
                    </a:lnR>
                    <a:lnT>
                      <a:noFill/>
                    </a:lnT>
                    <a:lnB>
                      <a:noFill/>
                    </a:lnB>
                    <a:noFill/>
                  </a:tcPr>
                </a:tc>
                <a:tc>
                  <a:txBody>
                    <a:bodyPr/>
                    <a:lstStyle/>
                    <a:p>
                      <a:pPr>
                        <a:buNone/>
                      </a:pPr>
                      <a:r>
                        <a:rPr lang="en-IN" dirty="0"/>
                        <a:t>Key Strengths </a:t>
                      </a:r>
                    </a:p>
                  </a:txBody>
                  <a:tcPr anchor="ctr">
                    <a:lnL>
                      <a:noFill/>
                    </a:lnL>
                    <a:lnR>
                      <a:noFill/>
                    </a:lnR>
                    <a:lnT>
                      <a:noFill/>
                    </a:lnT>
                    <a:lnB>
                      <a:noFill/>
                    </a:lnB>
                    <a:noFill/>
                  </a:tcPr>
                </a:tc>
                <a:tc>
                  <a:txBody>
                    <a:bodyPr/>
                    <a:lstStyle/>
                    <a:p>
                      <a:pPr>
                        <a:buNone/>
                      </a:pPr>
                      <a:r>
                        <a:rPr lang="en-IN" dirty="0"/>
                        <a:t>Specific Drawbacks </a:t>
                      </a:r>
                    </a:p>
                  </a:txBody>
                  <a:tcPr anchor="ctr">
                    <a:lnL>
                      <a:noFill/>
                    </a:lnL>
                    <a:lnR>
                      <a:noFill/>
                    </a:lnR>
                    <a:lnT>
                      <a:noFill/>
                    </a:lnT>
                    <a:lnB>
                      <a:noFill/>
                    </a:lnB>
                    <a:noFill/>
                  </a:tcPr>
                </a:tc>
                <a:extLst>
                  <a:ext uri="{0D108BD9-81ED-4DB2-BD59-A6C34878D82A}">
                    <a16:rowId xmlns:a16="http://schemas.microsoft.com/office/drawing/2014/main" val="2455985486"/>
                  </a:ext>
                </a:extLst>
              </a:tr>
              <a:tr h="0">
                <a:tc>
                  <a:txBody>
                    <a:bodyPr/>
                    <a:lstStyle/>
                    <a:p>
                      <a:pPr>
                        <a:buNone/>
                      </a:pPr>
                      <a:r>
                        <a:rPr lang="en-IN" b="1"/>
                        <a:t>Evolutionary Computing</a:t>
                      </a:r>
                      <a:endParaRPr lang="en-IN"/>
                    </a:p>
                  </a:txBody>
                  <a:tcPr anchor="ctr">
                    <a:lnL>
                      <a:noFill/>
                    </a:lnL>
                    <a:lnR>
                      <a:noFill/>
                    </a:lnR>
                    <a:lnT>
                      <a:noFill/>
                    </a:lnT>
                    <a:lnB>
                      <a:noFill/>
                    </a:lnB>
                    <a:noFill/>
                  </a:tcPr>
                </a:tc>
                <a:tc>
                  <a:txBody>
                    <a:bodyPr/>
                    <a:lstStyle/>
                    <a:p>
                      <a:pPr>
                        <a:buNone/>
                      </a:pPr>
                      <a:r>
                        <a:rPr lang="en-IN"/>
                        <a:t>Genetic Algorithm (GA), NSGA-II</a:t>
                      </a:r>
                    </a:p>
                  </a:txBody>
                  <a:tcPr anchor="ctr">
                    <a:lnL>
                      <a:noFill/>
                    </a:lnL>
                    <a:lnR>
                      <a:noFill/>
                    </a:lnR>
                    <a:lnT>
                      <a:noFill/>
                    </a:lnT>
                    <a:lnB>
                      <a:noFill/>
                    </a:lnB>
                    <a:noFill/>
                  </a:tcPr>
                </a:tc>
                <a:tc>
                  <a:txBody>
                    <a:bodyPr/>
                    <a:lstStyle/>
                    <a:p>
                      <a:pPr>
                        <a:buNone/>
                      </a:pPr>
                      <a:r>
                        <a:rPr lang="en-US"/>
                        <a:t>Efficiently searches massive datasets; excellent for global optimization.</a:t>
                      </a:r>
                    </a:p>
                  </a:txBody>
                  <a:tcPr anchor="ctr">
                    <a:lnL>
                      <a:noFill/>
                    </a:lnL>
                    <a:lnR>
                      <a:noFill/>
                    </a:lnR>
                    <a:lnT>
                      <a:noFill/>
                    </a:lnT>
                    <a:lnB>
                      <a:noFill/>
                    </a:lnB>
                    <a:noFill/>
                  </a:tcPr>
                </a:tc>
                <a:tc>
                  <a:txBody>
                    <a:bodyPr/>
                    <a:lstStyle/>
                    <a:p>
                      <a:pPr>
                        <a:buNone/>
                      </a:pPr>
                      <a:r>
                        <a:rPr lang="en-US" b="1"/>
                        <a:t>Local Optima:</a:t>
                      </a:r>
                      <a:r>
                        <a:rPr lang="en-US"/>
                        <a:t> Can get "stuck" in a good-but-not-perfect solution early on.</a:t>
                      </a:r>
                    </a:p>
                  </a:txBody>
                  <a:tcPr anchor="ctr">
                    <a:lnL>
                      <a:noFill/>
                    </a:lnL>
                    <a:lnR>
                      <a:noFill/>
                    </a:lnR>
                    <a:lnT>
                      <a:noFill/>
                    </a:lnT>
                    <a:lnB>
                      <a:noFill/>
                    </a:lnB>
                    <a:noFill/>
                  </a:tcPr>
                </a:tc>
                <a:extLst>
                  <a:ext uri="{0D108BD9-81ED-4DB2-BD59-A6C34878D82A}">
                    <a16:rowId xmlns:a16="http://schemas.microsoft.com/office/drawing/2014/main" val="1770755488"/>
                  </a:ext>
                </a:extLst>
              </a:tr>
              <a:tr h="0">
                <a:tc>
                  <a:txBody>
                    <a:bodyPr/>
                    <a:lstStyle/>
                    <a:p>
                      <a:pPr>
                        <a:buNone/>
                      </a:pPr>
                      <a:r>
                        <a:rPr lang="en-IN" b="1" dirty="0"/>
                        <a:t>Swarm Intelligence</a:t>
                      </a:r>
                      <a:endParaRPr lang="en-IN" dirty="0"/>
                    </a:p>
                  </a:txBody>
                  <a:tcPr anchor="ctr">
                    <a:lnL>
                      <a:noFill/>
                    </a:lnL>
                    <a:lnR>
                      <a:noFill/>
                    </a:lnR>
                    <a:lnT>
                      <a:noFill/>
                    </a:lnT>
                    <a:lnB>
                      <a:noFill/>
                    </a:lnB>
                    <a:noFill/>
                  </a:tcPr>
                </a:tc>
                <a:tc>
                  <a:txBody>
                    <a:bodyPr/>
                    <a:lstStyle/>
                    <a:p>
                      <a:pPr>
                        <a:buNone/>
                      </a:pPr>
                      <a:r>
                        <a:rPr lang="en-US"/>
                        <a:t>Spotted Hyena (SHO), Firefly (FA)</a:t>
                      </a:r>
                    </a:p>
                  </a:txBody>
                  <a:tcPr anchor="ctr">
                    <a:lnL>
                      <a:noFill/>
                    </a:lnL>
                    <a:lnR>
                      <a:noFill/>
                    </a:lnR>
                    <a:lnT>
                      <a:noFill/>
                    </a:lnT>
                    <a:lnB>
                      <a:noFill/>
                    </a:lnB>
                    <a:noFill/>
                  </a:tcPr>
                </a:tc>
                <a:tc>
                  <a:txBody>
                    <a:bodyPr/>
                    <a:lstStyle/>
                    <a:p>
                      <a:pPr>
                        <a:buNone/>
                      </a:pPr>
                      <a:r>
                        <a:rPr lang="en-US"/>
                        <a:t>High precision; excels at finding the "best possible" fit for complex constraints.</a:t>
                      </a:r>
                    </a:p>
                  </a:txBody>
                  <a:tcPr anchor="ctr">
                    <a:lnL>
                      <a:noFill/>
                    </a:lnL>
                    <a:lnR>
                      <a:noFill/>
                    </a:lnR>
                    <a:lnT>
                      <a:noFill/>
                    </a:lnT>
                    <a:lnB>
                      <a:noFill/>
                    </a:lnB>
                    <a:noFill/>
                  </a:tcPr>
                </a:tc>
                <a:tc>
                  <a:txBody>
                    <a:bodyPr/>
                    <a:lstStyle/>
                    <a:p>
                      <a:pPr>
                        <a:buNone/>
                      </a:pPr>
                      <a:r>
                        <a:rPr lang="en-US" b="1"/>
                        <a:t>High Latency:</a:t>
                      </a:r>
                      <a:r>
                        <a:rPr lang="en-US"/>
                        <a:t> Significant computational time compared to simpler models.</a:t>
                      </a:r>
                    </a:p>
                  </a:txBody>
                  <a:tcPr anchor="ctr">
                    <a:lnL>
                      <a:noFill/>
                    </a:lnL>
                    <a:lnR>
                      <a:noFill/>
                    </a:lnR>
                    <a:lnT>
                      <a:noFill/>
                    </a:lnT>
                    <a:lnB>
                      <a:noFill/>
                    </a:lnB>
                    <a:noFill/>
                  </a:tcPr>
                </a:tc>
                <a:extLst>
                  <a:ext uri="{0D108BD9-81ED-4DB2-BD59-A6C34878D82A}">
                    <a16:rowId xmlns:a16="http://schemas.microsoft.com/office/drawing/2014/main" val="1098343295"/>
                  </a:ext>
                </a:extLst>
              </a:tr>
              <a:tr h="0">
                <a:tc>
                  <a:txBody>
                    <a:bodyPr/>
                    <a:lstStyle/>
                    <a:p>
                      <a:pPr>
                        <a:buNone/>
                      </a:pPr>
                      <a:r>
                        <a:rPr lang="en-IN" b="1"/>
                        <a:t>Neural Models</a:t>
                      </a:r>
                      <a:endParaRPr lang="en-IN"/>
                    </a:p>
                  </a:txBody>
                  <a:tcPr anchor="ctr">
                    <a:lnL>
                      <a:noFill/>
                    </a:lnL>
                    <a:lnR>
                      <a:noFill/>
                    </a:lnR>
                    <a:lnT>
                      <a:noFill/>
                    </a:lnT>
                    <a:lnB>
                      <a:noFill/>
                    </a:lnB>
                    <a:noFill/>
                  </a:tcPr>
                </a:tc>
                <a:tc>
                  <a:txBody>
                    <a:bodyPr/>
                    <a:lstStyle/>
                    <a:p>
                      <a:pPr>
                        <a:buNone/>
                      </a:pPr>
                      <a:r>
                        <a:rPr lang="en-IN"/>
                        <a:t>Artificial Neural Networks (ANN)</a:t>
                      </a:r>
                    </a:p>
                  </a:txBody>
                  <a:tcPr anchor="ctr">
                    <a:lnL>
                      <a:noFill/>
                    </a:lnL>
                    <a:lnR>
                      <a:noFill/>
                    </a:lnR>
                    <a:lnT>
                      <a:noFill/>
                    </a:lnT>
                    <a:lnB>
                      <a:noFill/>
                    </a:lnB>
                    <a:noFill/>
                  </a:tcPr>
                </a:tc>
                <a:tc>
                  <a:txBody>
                    <a:bodyPr/>
                    <a:lstStyle/>
                    <a:p>
                      <a:pPr>
                        <a:buNone/>
                      </a:pPr>
                      <a:r>
                        <a:rPr lang="en-US"/>
                        <a:t>Adaptive; learns from historical data and faculty leave patterns.</a:t>
                      </a:r>
                    </a:p>
                  </a:txBody>
                  <a:tcPr anchor="ctr">
                    <a:lnL>
                      <a:noFill/>
                    </a:lnL>
                    <a:lnR>
                      <a:noFill/>
                    </a:lnR>
                    <a:lnT>
                      <a:noFill/>
                    </a:lnT>
                    <a:lnB>
                      <a:noFill/>
                    </a:lnB>
                    <a:noFill/>
                  </a:tcPr>
                </a:tc>
                <a:tc>
                  <a:txBody>
                    <a:bodyPr/>
                    <a:lstStyle/>
                    <a:p>
                      <a:pPr>
                        <a:buNone/>
                      </a:pPr>
                      <a:r>
                        <a:rPr lang="en-US" b="1"/>
                        <a:t>"Black Box" Logic:</a:t>
                      </a:r>
                      <a:r>
                        <a:rPr lang="en-US"/>
                        <a:t> Hard for humans to understand or manually tweak the results.</a:t>
                      </a:r>
                    </a:p>
                  </a:txBody>
                  <a:tcPr anchor="ctr">
                    <a:lnL>
                      <a:noFill/>
                    </a:lnL>
                    <a:lnR>
                      <a:noFill/>
                    </a:lnR>
                    <a:lnT>
                      <a:noFill/>
                    </a:lnT>
                    <a:lnB>
                      <a:noFill/>
                    </a:lnB>
                    <a:noFill/>
                  </a:tcPr>
                </a:tc>
                <a:extLst>
                  <a:ext uri="{0D108BD9-81ED-4DB2-BD59-A6C34878D82A}">
                    <a16:rowId xmlns:a16="http://schemas.microsoft.com/office/drawing/2014/main" val="1017646088"/>
                  </a:ext>
                </a:extLst>
              </a:tr>
              <a:tr h="0">
                <a:tc>
                  <a:txBody>
                    <a:bodyPr/>
                    <a:lstStyle/>
                    <a:p>
                      <a:pPr>
                        <a:buNone/>
                      </a:pPr>
                      <a:r>
                        <a:rPr lang="en-IN" b="1"/>
                        <a:t>Constraint Logic</a:t>
                      </a:r>
                      <a:endParaRPr lang="en-IN"/>
                    </a:p>
                  </a:txBody>
                  <a:tcPr anchor="ctr">
                    <a:lnL>
                      <a:noFill/>
                    </a:lnL>
                    <a:lnR>
                      <a:noFill/>
                    </a:lnR>
                    <a:lnT>
                      <a:noFill/>
                    </a:lnT>
                    <a:lnB>
                      <a:noFill/>
                    </a:lnB>
                    <a:noFill/>
                  </a:tcPr>
                </a:tc>
                <a:tc>
                  <a:txBody>
                    <a:bodyPr/>
                    <a:lstStyle/>
                    <a:p>
                      <a:pPr>
                        <a:buNone/>
                      </a:pPr>
                      <a:r>
                        <a:rPr lang="en-IN"/>
                        <a:t>Rule-Based, CSP</a:t>
                      </a:r>
                    </a:p>
                  </a:txBody>
                  <a:tcPr anchor="ctr">
                    <a:lnL>
                      <a:noFill/>
                    </a:lnL>
                    <a:lnR>
                      <a:noFill/>
                    </a:lnR>
                    <a:lnT>
                      <a:noFill/>
                    </a:lnT>
                    <a:lnB>
                      <a:noFill/>
                    </a:lnB>
                    <a:noFill/>
                  </a:tcPr>
                </a:tc>
                <a:tc>
                  <a:txBody>
                    <a:bodyPr/>
                    <a:lstStyle/>
                    <a:p>
                      <a:pPr>
                        <a:buNone/>
                      </a:pPr>
                      <a:r>
                        <a:rPr lang="en-US"/>
                        <a:t>Straightforward implementation; great for simple, fixed schedules.</a:t>
                      </a:r>
                    </a:p>
                  </a:txBody>
                  <a:tcPr anchor="ctr">
                    <a:lnL>
                      <a:noFill/>
                    </a:lnL>
                    <a:lnR>
                      <a:noFill/>
                    </a:lnR>
                    <a:lnT>
                      <a:noFill/>
                    </a:lnT>
                    <a:lnB>
                      <a:noFill/>
                    </a:lnB>
                    <a:noFill/>
                  </a:tcPr>
                </a:tc>
                <a:tc>
                  <a:txBody>
                    <a:bodyPr/>
                    <a:lstStyle/>
                    <a:p>
                      <a:pPr>
                        <a:buNone/>
                      </a:pPr>
                      <a:r>
                        <a:rPr lang="en-US" b="1"/>
                        <a:t>Lack of Scalability:</a:t>
                      </a:r>
                      <a:r>
                        <a:rPr lang="en-US"/>
                        <a:t> Breaks down when facing cross-departmental dependencies.</a:t>
                      </a:r>
                    </a:p>
                  </a:txBody>
                  <a:tcPr anchor="ctr">
                    <a:lnL>
                      <a:noFill/>
                    </a:lnL>
                    <a:lnR>
                      <a:noFill/>
                    </a:lnR>
                    <a:lnT>
                      <a:noFill/>
                    </a:lnT>
                    <a:lnB>
                      <a:noFill/>
                    </a:lnB>
                    <a:noFill/>
                  </a:tcPr>
                </a:tc>
                <a:extLst>
                  <a:ext uri="{0D108BD9-81ED-4DB2-BD59-A6C34878D82A}">
                    <a16:rowId xmlns:a16="http://schemas.microsoft.com/office/drawing/2014/main" val="1537251983"/>
                  </a:ext>
                </a:extLst>
              </a:tr>
              <a:tr h="0">
                <a:tc>
                  <a:txBody>
                    <a:bodyPr/>
                    <a:lstStyle/>
                    <a:p>
                      <a:pPr>
                        <a:buNone/>
                      </a:pPr>
                      <a:r>
                        <a:rPr lang="en-IN" b="1" dirty="0"/>
                        <a:t>Web-Based Tools</a:t>
                      </a:r>
                      <a:endParaRPr lang="en-IN" dirty="0"/>
                    </a:p>
                  </a:txBody>
                  <a:tcPr anchor="ctr">
                    <a:lnL>
                      <a:noFill/>
                    </a:lnL>
                    <a:lnR>
                      <a:noFill/>
                    </a:lnR>
                    <a:lnT>
                      <a:noFill/>
                    </a:lnT>
                    <a:lnB>
                      <a:noFill/>
                    </a:lnB>
                    <a:noFill/>
                  </a:tcPr>
                </a:tc>
                <a:tc>
                  <a:txBody>
                    <a:bodyPr/>
                    <a:lstStyle/>
                    <a:p>
                      <a:pPr>
                        <a:buNone/>
                      </a:pPr>
                      <a:r>
                        <a:rPr lang="en-IN"/>
                        <a:t>React / Flask Apps</a:t>
                      </a:r>
                    </a:p>
                  </a:txBody>
                  <a:tcPr anchor="ctr">
                    <a:lnL>
                      <a:noFill/>
                    </a:lnL>
                    <a:lnR>
                      <a:noFill/>
                    </a:lnR>
                    <a:lnT>
                      <a:noFill/>
                    </a:lnT>
                    <a:lnB>
                      <a:noFill/>
                    </a:lnB>
                    <a:noFill/>
                  </a:tcPr>
                </a:tc>
                <a:tc>
                  <a:txBody>
                    <a:bodyPr/>
                    <a:lstStyle/>
                    <a:p>
                      <a:pPr>
                        <a:buNone/>
                      </a:pPr>
                      <a:r>
                        <a:rPr lang="en-US"/>
                        <a:t>High accessibility; user-friendly dashboards for staff and students.</a:t>
                      </a:r>
                    </a:p>
                  </a:txBody>
                  <a:tcPr anchor="ctr">
                    <a:lnL>
                      <a:noFill/>
                    </a:lnL>
                    <a:lnR>
                      <a:noFill/>
                    </a:lnR>
                    <a:lnT>
                      <a:noFill/>
                    </a:lnT>
                    <a:lnB>
                      <a:noFill/>
                    </a:lnB>
                    <a:noFill/>
                  </a:tcPr>
                </a:tc>
                <a:tc>
                  <a:txBody>
                    <a:bodyPr/>
                    <a:lstStyle/>
                    <a:p>
                      <a:pPr>
                        <a:buNone/>
                      </a:pPr>
                      <a:r>
                        <a:rPr lang="en-US" b="1" dirty="0"/>
                        <a:t>Static Nature:</a:t>
                      </a:r>
                      <a:r>
                        <a:rPr lang="en-US" dirty="0"/>
                        <a:t> Often focuses on data display rathe</a:t>
                      </a:r>
                    </a:p>
                  </a:txBody>
                  <a:tcPr anchor="ctr">
                    <a:lnL>
                      <a:noFill/>
                    </a:lnL>
                    <a:lnR>
                      <a:noFill/>
                    </a:lnR>
                    <a:lnT>
                      <a:noFill/>
                    </a:lnT>
                    <a:lnB>
                      <a:noFill/>
                    </a:lnB>
                    <a:noFill/>
                  </a:tcPr>
                </a:tc>
                <a:extLst>
                  <a:ext uri="{0D108BD9-81ED-4DB2-BD59-A6C34878D82A}">
                    <a16:rowId xmlns:a16="http://schemas.microsoft.com/office/drawing/2014/main" val="182728606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anose="02040503050406030204" pitchFamily="18" charset="0"/>
                <a:ea typeface="Cambria" panose="02040503050406030204" pitchFamily="18" charset="0"/>
                <a:sym typeface="+mn-ea"/>
              </a:rPr>
              <a:t>Proposed Method &amp; Feasibility </a:t>
            </a:r>
            <a:r>
              <a:rPr lang="en-US" dirty="0">
                <a:solidFill>
                  <a:srgbClr val="17365D"/>
                </a:solidFill>
                <a:latin typeface="Cambria" panose="02040503050406030204" pitchFamily="18" charset="0"/>
                <a:ea typeface="Cambria" panose="02040503050406030204" pitchFamily="18" charset="0"/>
                <a:sym typeface="+mn-ea"/>
              </a:rPr>
              <a:t>Study </a:t>
            </a:r>
          </a:p>
        </p:txBody>
      </p:sp>
      <p:sp>
        <p:nvSpPr>
          <p:cNvPr id="3" name="Text Placeholder 2"/>
          <p:cNvSpPr>
            <a:spLocks noGrp="1"/>
          </p:cNvSpPr>
          <p:nvPr>
            <p:ph type="body" idx="1"/>
          </p:nvPr>
        </p:nvSpPr>
        <p:spPr/>
        <p:txBody>
          <a:bodyPr>
            <a:noAutofit/>
          </a:bodyPr>
          <a:lstStyle/>
          <a:p>
            <a:pPr marL="76200" indent="0">
              <a:buNone/>
            </a:pPr>
            <a:r>
              <a:rPr lang="en-US" sz="1600" b="1" dirty="0"/>
              <a:t>Phase I: Data Collection &amp; Preprocessing </a:t>
            </a:r>
          </a:p>
          <a:p>
            <a:r>
              <a:rPr lang="en-US" sz="1400" b="1" dirty="0"/>
              <a:t>Structured Storage</a:t>
            </a:r>
            <a:r>
              <a:rPr lang="en-US" sz="1400" dirty="0"/>
              <a:t>: Store faculty information, subject loads, and room capacities in a relational database (PostgreSQL) or JSON format.</a:t>
            </a:r>
          </a:p>
          <a:p>
            <a:r>
              <a:rPr lang="en-US" sz="1400" b="1" dirty="0"/>
              <a:t>Constraint Normalization</a:t>
            </a:r>
            <a:r>
              <a:rPr lang="en-US" sz="1400" dirty="0"/>
              <a:t>: Preprocess data to identify "Hard" (non-negotiable) and "Soft" (desirable) constraints.</a:t>
            </a:r>
          </a:p>
          <a:p>
            <a:pPr marL="76200" indent="0">
              <a:buNone/>
            </a:pPr>
            <a:r>
              <a:rPr lang="en-US" sz="1600" b="1" dirty="0"/>
              <a:t>Phase II: The Hybrid Scheduling Engine </a:t>
            </a:r>
          </a:p>
          <a:p>
            <a:r>
              <a:rPr lang="en-US" sz="1400" b="1" dirty="0"/>
              <a:t>Step 1: Global Search (GA)</a:t>
            </a:r>
            <a:r>
              <a:rPr lang="en-US" sz="1400" dirty="0"/>
              <a:t>: Initialize a population of random timetables. Use selection, crossover, and mutation to evolve towards a conflict-free "chromosomal" representation.</a:t>
            </a:r>
          </a:p>
          <a:p>
            <a:r>
              <a:rPr lang="en-US" sz="1400" b="1" dirty="0"/>
              <a:t>Step 2: Local Repair (Simulated Annealing)</a:t>
            </a:r>
            <a:r>
              <a:rPr lang="en-US" sz="1400" dirty="0"/>
              <a:t>: To prevent the GA from stalling (Local Optima), apply </a:t>
            </a:r>
            <a:r>
              <a:rPr lang="en-US" sz="1400" b="1" dirty="0"/>
              <a:t>Simulated Annealing (SA)</a:t>
            </a:r>
            <a:r>
              <a:rPr lang="en-US" sz="1400" dirty="0"/>
              <a:t>. SA "polishes" the best results by exploring neighboring solutions and accepting small "worse" moves temporarily to jump out of dead zones.</a:t>
            </a:r>
          </a:p>
          <a:p>
            <a:r>
              <a:rPr lang="en-US" sz="1400" b="1" dirty="0"/>
              <a:t>Step 3: Machine Learning Refinement</a:t>
            </a:r>
            <a:r>
              <a:rPr lang="en-US" sz="1400" dirty="0"/>
              <a:t>: Use a </a:t>
            </a:r>
            <a:r>
              <a:rPr lang="en-US" sz="1400" b="1" dirty="0"/>
              <a:t>supervised learning model</a:t>
            </a:r>
            <a:r>
              <a:rPr lang="en-US" sz="1400" dirty="0"/>
              <a:t> (e.g., Random Forest) to evaluate historical "quality" scores and predict which room-slot pairs lead to the highest faculty satisfaction.</a:t>
            </a:r>
          </a:p>
          <a:p>
            <a:pPr marL="76200" indent="0">
              <a:buNone/>
            </a:pPr>
            <a:r>
              <a:rPr lang="en-US" sz="1600" b="1" dirty="0"/>
              <a:t>Phase III: Real-Time Adaptation Module </a:t>
            </a:r>
          </a:p>
          <a:p>
            <a:r>
              <a:rPr lang="en-US" sz="1400" b="1" dirty="0"/>
              <a:t>Dynamic Adjustment</a:t>
            </a:r>
            <a:r>
              <a:rPr lang="en-US" sz="1400" dirty="0"/>
              <a:t>: Implement </a:t>
            </a:r>
            <a:r>
              <a:rPr lang="en-US" sz="1400" b="1" dirty="0" err="1"/>
              <a:t>WebSockets</a:t>
            </a:r>
            <a:r>
              <a:rPr lang="en-US" sz="1400" dirty="0"/>
              <a:t> for instant updates. If a faculty member marks an absence, the system triggers a "Local Repair" instead of a full regeneration, finding a substitute room or teacher without disrupting the rest of the schedule.</a:t>
            </a:r>
          </a:p>
          <a:p>
            <a:pPr marL="558800" lvl="1" indent="0">
              <a:buNone/>
            </a:pPr>
            <a:endParaRPr lang="en-US" alt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ln>
                  <a:noFill/>
                </a:ln>
                <a:solidFill>
                  <a:srgbClr val="17365D"/>
                </a:solidFill>
                <a:effectLst/>
                <a:uLnTx/>
                <a:uFillTx/>
                <a:latin typeface="Cambria" panose="02040503050406030204" pitchFamily="18" charset="0"/>
                <a:ea typeface="Cambria" panose="02040503050406030204" pitchFamily="18" charset="0"/>
                <a:sym typeface="Verdana" panose="020B0604030504040204"/>
              </a:rPr>
              <a:t>Architecture Diagram</a:t>
            </a:r>
          </a:p>
        </p:txBody>
      </p:sp>
      <p:pic>
        <p:nvPicPr>
          <p:cNvPr id="7" name="Picture 6">
            <a:extLst>
              <a:ext uri="{FF2B5EF4-FFF2-40B4-BE49-F238E27FC236}">
                <a16:creationId xmlns:a16="http://schemas.microsoft.com/office/drawing/2014/main" id="{0F5D6D31-3D78-AF20-C25D-4BB32037D75F}"/>
              </a:ext>
            </a:extLst>
          </p:cNvPr>
          <p:cNvPicPr>
            <a:picLocks noChangeAspect="1"/>
          </p:cNvPicPr>
          <p:nvPr/>
        </p:nvPicPr>
        <p:blipFill>
          <a:blip r:embed="rId2"/>
          <a:srcRect t="31111" b="31039"/>
          <a:stretch>
            <a:fillRect/>
          </a:stretch>
        </p:blipFill>
        <p:spPr>
          <a:xfrm>
            <a:off x="1474839" y="1435510"/>
            <a:ext cx="9026013" cy="42082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noProof="0" dirty="0">
                <a:ln>
                  <a:noFill/>
                </a:ln>
                <a:solidFill>
                  <a:srgbClr val="17365D"/>
                </a:solidFill>
                <a:effectLst/>
                <a:uLnTx/>
                <a:uFillTx/>
                <a:latin typeface="Cambria" panose="02040503050406030204" pitchFamily="18" charset="0"/>
                <a:ea typeface="Cambria" panose="02040503050406030204" pitchFamily="18" charset="0"/>
                <a:sym typeface="Verdana" panose="020B0604030504040204"/>
              </a:rPr>
              <a:t>Hardware and Software Details</a:t>
            </a:r>
          </a:p>
        </p:txBody>
      </p:sp>
      <p:sp>
        <p:nvSpPr>
          <p:cNvPr id="3" name="Text Placeholder 2"/>
          <p:cNvSpPr>
            <a:spLocks noGrp="1"/>
          </p:cNvSpPr>
          <p:nvPr>
            <p:ph type="body" idx="1"/>
          </p:nvPr>
        </p:nvSpPr>
        <p:spPr/>
        <p:txBody>
          <a:bodyPr/>
          <a:lstStyle/>
          <a:p>
            <a:r>
              <a:rPr lang="en-US" altLang="en-US" dirty="0">
                <a:latin typeface="Cambria" panose="02040503050406030204" pitchFamily="18" charset="0"/>
                <a:ea typeface="Cambria" panose="02040503050406030204" pitchFamily="18" charset="0"/>
              </a:rPr>
              <a:t>Hardware: 8–12 GB VRAM GPU (e.g., RTX 3060), 32–64 GB RAM, ≥1 TB SSD; optional RTK UAV (DJI/Parrot).</a:t>
            </a:r>
          </a:p>
          <a:p>
            <a:endParaRPr lang="en-US" altLang="en-US" dirty="0">
              <a:latin typeface="Cambria" panose="02040503050406030204" pitchFamily="18" charset="0"/>
              <a:ea typeface="Cambria" panose="02040503050406030204" pitchFamily="18" charset="0"/>
            </a:endParaRPr>
          </a:p>
          <a:p>
            <a:r>
              <a:rPr lang="en-US" altLang="en-US" dirty="0">
                <a:latin typeface="Cambria" panose="02040503050406030204" pitchFamily="18" charset="0"/>
                <a:ea typeface="Cambria" panose="02040503050406030204" pitchFamily="18" charset="0"/>
              </a:rPr>
              <a:t>Software: Python 3.10, </a:t>
            </a:r>
            <a:r>
              <a:rPr lang="en-US" altLang="en-US" dirty="0" err="1">
                <a:latin typeface="Cambria" panose="02040503050406030204" pitchFamily="18" charset="0"/>
                <a:ea typeface="Cambria" panose="02040503050406030204" pitchFamily="18" charset="0"/>
              </a:rPr>
              <a:t>PyTorch</a:t>
            </a:r>
            <a:r>
              <a:rPr lang="en-US" altLang="en-US" dirty="0">
                <a:latin typeface="Cambria" panose="02040503050406030204" pitchFamily="18" charset="0"/>
                <a:ea typeface="Cambria" panose="02040503050406030204" pitchFamily="18" charset="0"/>
              </a:rPr>
              <a:t>/TF, CUDA, GDAL/</a:t>
            </a:r>
            <a:r>
              <a:rPr lang="en-US" altLang="en-US" dirty="0" err="1">
                <a:latin typeface="Cambria" panose="02040503050406030204" pitchFamily="18" charset="0"/>
                <a:ea typeface="Cambria" panose="02040503050406030204" pitchFamily="18" charset="0"/>
              </a:rPr>
              <a:t>Rasterio</a:t>
            </a:r>
            <a:r>
              <a:rPr lang="en-US" altLang="en-US" dirty="0">
                <a:latin typeface="Cambria" panose="02040503050406030204" pitchFamily="18" charset="0"/>
                <a:ea typeface="Cambria" panose="02040503050406030204" pitchFamily="18" charset="0"/>
              </a:rPr>
              <a:t>, </a:t>
            </a:r>
            <a:r>
              <a:rPr lang="en-US" altLang="en-US" dirty="0" err="1">
                <a:latin typeface="Cambria" panose="02040503050406030204" pitchFamily="18" charset="0"/>
                <a:ea typeface="Cambria" panose="02040503050406030204" pitchFamily="18" charset="0"/>
              </a:rPr>
              <a:t>Albumentations</a:t>
            </a:r>
            <a:r>
              <a:rPr lang="en-US" altLang="en-US" dirty="0">
                <a:latin typeface="Cambria" panose="02040503050406030204" pitchFamily="18" charset="0"/>
                <a:ea typeface="Cambria" panose="02040503050406030204" pitchFamily="18" charset="0"/>
              </a:rPr>
              <a:t>, </a:t>
            </a:r>
            <a:r>
              <a:rPr lang="en-US" altLang="en-US" dirty="0" err="1">
                <a:latin typeface="Cambria" panose="02040503050406030204" pitchFamily="18" charset="0"/>
                <a:ea typeface="Cambria" panose="02040503050406030204" pitchFamily="18" charset="0"/>
              </a:rPr>
              <a:t>OpenDroneMap</a:t>
            </a:r>
            <a:r>
              <a:rPr lang="en-US" altLang="en-US" dirty="0">
                <a:latin typeface="Cambria" panose="02040503050406030204" pitchFamily="18" charset="0"/>
                <a:ea typeface="Cambria" panose="02040503050406030204" pitchFamily="18" charset="0"/>
              </a:rPr>
              <a:t>/</a:t>
            </a:r>
            <a:r>
              <a:rPr lang="en-US" altLang="en-US" dirty="0" err="1">
                <a:latin typeface="Cambria" panose="02040503050406030204" pitchFamily="18" charset="0"/>
                <a:ea typeface="Cambria" panose="02040503050406030204" pitchFamily="18" charset="0"/>
              </a:rPr>
              <a:t>WebODM</a:t>
            </a:r>
            <a:r>
              <a:rPr lang="en-US" altLang="en-US" dirty="0">
                <a:latin typeface="Cambria" panose="02040503050406030204" pitchFamily="18" charset="0"/>
                <a:ea typeface="Cambria" panose="02040503050406030204" pitchFamily="18" charset="0"/>
              </a:rPr>
              <a:t> or </a:t>
            </a:r>
            <a:r>
              <a:rPr lang="en-US" altLang="en-US" dirty="0" err="1">
                <a:latin typeface="Cambria" panose="02040503050406030204" pitchFamily="18" charset="0"/>
                <a:ea typeface="Cambria" panose="02040503050406030204" pitchFamily="18" charset="0"/>
              </a:rPr>
              <a:t>Agisoft</a:t>
            </a:r>
            <a:r>
              <a:rPr lang="en-US" altLang="en-US" dirty="0">
                <a:latin typeface="Cambria" panose="02040503050406030204" pitchFamily="18" charset="0"/>
                <a:ea typeface="Cambria" panose="02040503050406030204" pitchFamily="18" charset="0"/>
              </a:rPr>
              <a:t>, QGIS/ARC GIS; experiment tracking (</a:t>
            </a:r>
            <a:r>
              <a:rPr lang="en-US" altLang="en-US" dirty="0" err="1">
                <a:latin typeface="Cambria" panose="02040503050406030204" pitchFamily="18" charset="0"/>
                <a:ea typeface="Cambria" panose="02040503050406030204" pitchFamily="18" charset="0"/>
              </a:rPr>
              <a:t>MLflow</a:t>
            </a:r>
            <a:r>
              <a:rPr lang="en-US" altLang="en-US" dirty="0">
                <a:latin typeface="Cambria" panose="02040503050406030204" pitchFamily="18" charset="0"/>
                <a:ea typeface="Cambria" panose="02040503050406030204" pitchFamily="18" charset="0"/>
              </a:rPr>
              <a:t>/W&amp;B).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30140D55-F8DB-10F6-01E7-2FD4EE16E47D}"/>
              </a:ext>
            </a:extLst>
          </p:cNvPr>
          <p:cNvPicPr>
            <a:picLocks noChangeAspect="1"/>
          </p:cNvPicPr>
          <p:nvPr/>
        </p:nvPicPr>
        <p:blipFill>
          <a:blip r:embed="rId3"/>
          <a:srcRect b="2758"/>
          <a:stretch>
            <a:fillRect/>
          </a:stretch>
        </p:blipFill>
        <p:spPr>
          <a:xfrm>
            <a:off x="1130710" y="1054862"/>
            <a:ext cx="9901083" cy="48543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80720" y="1052195"/>
            <a:ext cx="10668000" cy="5022850"/>
          </a:xfrm>
          <a:prstGeom prst="rect">
            <a:avLst/>
          </a:prstGeom>
          <a:noFill/>
          <a:ln>
            <a:noFill/>
          </a:ln>
        </p:spPr>
        <p:txBody>
          <a:bodyPr spcFirstLastPara="1" wrap="square" lIns="91425" tIns="45700" rIns="91425" bIns="45700" anchor="t" anchorCtr="0">
            <a:normAutofit fontScale="97500"/>
          </a:bodyPr>
          <a:lstStyle/>
          <a:p>
            <a:r>
              <a:rPr lang="en-US" altLang="en-US" sz="2000" dirty="0">
                <a:latin typeface="+mj-lt"/>
                <a:ea typeface="Cambria" panose="02040503050406030204" pitchFamily="18" charset="0"/>
              </a:rPr>
              <a:t>[1]</a:t>
            </a:r>
            <a:r>
              <a:rPr lang="en-US" sz="2000" i="1" dirty="0">
                <a:latin typeface="+mj-lt"/>
              </a:rPr>
              <a:t> Nguyen &amp; Nguyen (2021)</a:t>
            </a:r>
            <a:r>
              <a:rPr lang="en-US" sz="2000" dirty="0">
                <a:latin typeface="+mj-lt"/>
              </a:rPr>
              <a:t> - "An SHO-based approach to timetable scheduling: a case study"</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[2]</a:t>
            </a:r>
            <a:r>
              <a:rPr lang="en-IN" sz="2000" i="1" dirty="0">
                <a:latin typeface="+mj-lt"/>
              </a:rPr>
              <a:t> Dhiman &amp; Kumar (2018)</a:t>
            </a:r>
            <a:r>
              <a:rPr lang="en-IN" sz="2000" dirty="0">
                <a:latin typeface="+mj-lt"/>
              </a:rPr>
              <a:t> - "Multi-objective spotted hyena optimizer"</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[3]</a:t>
            </a:r>
            <a:r>
              <a:rPr lang="en-US" sz="2000" i="1" dirty="0">
                <a:latin typeface="+mj-lt"/>
              </a:rPr>
              <a:t> Goli et al. (2019)</a:t>
            </a:r>
            <a:r>
              <a:rPr lang="en-US" sz="2000" dirty="0">
                <a:latin typeface="+mj-lt"/>
              </a:rPr>
              <a:t> - "Solving a University Exam Scheduling Problem Using Genetic and Firefly Algorithms"</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[4]</a:t>
            </a:r>
            <a:r>
              <a:rPr lang="en-US" sz="2000" i="1" dirty="0">
                <a:latin typeface="+mj-lt"/>
              </a:rPr>
              <a:t> Kumari Herath (2017)</a:t>
            </a:r>
            <a:r>
              <a:rPr lang="en-US" sz="2000" dirty="0">
                <a:latin typeface="+mj-lt"/>
              </a:rPr>
              <a:t> - "Genetic Algorithm For University Course Timetabling Problem"</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[5]</a:t>
            </a:r>
            <a:r>
              <a:rPr lang="en-US" sz="2000" i="1" dirty="0">
                <a:latin typeface="+mj-lt"/>
              </a:rPr>
              <a:t> Shah et al. (2025)</a:t>
            </a:r>
            <a:r>
              <a:rPr lang="en-US" sz="2000" dirty="0">
                <a:latin typeface="+mj-lt"/>
              </a:rPr>
              <a:t> - "Optimizing Timetable Generation for Educational Institute Using Genetic Algorithm</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[6]</a:t>
            </a:r>
            <a:r>
              <a:rPr lang="en-US" sz="2000" i="1" dirty="0">
                <a:latin typeface="+mj-lt"/>
              </a:rPr>
              <a:t> Alonge et al. (2025)</a:t>
            </a:r>
            <a:r>
              <a:rPr lang="en-US" sz="2000" dirty="0">
                <a:latin typeface="+mj-lt"/>
              </a:rPr>
              <a:t> - "An Automated Timetable Scheduler Using NSGA II for Optimized Scheduling</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[7]</a:t>
            </a:r>
            <a:r>
              <a:rPr lang="en-US" sz="2000" i="1" dirty="0">
                <a:latin typeface="+mj-lt"/>
              </a:rPr>
              <a:t> Saw et al. (2025)</a:t>
            </a:r>
            <a:r>
              <a:rPr lang="en-US" sz="2000" dirty="0">
                <a:latin typeface="+mj-lt"/>
              </a:rPr>
              <a:t> - "Adaptive Scheduler: AI Optimization of Academic Timetable"</a:t>
            </a:r>
            <a:r>
              <a:rPr lang="en-US" altLang="en-US" sz="2000" dirty="0">
                <a:latin typeface="+mj-lt"/>
                <a:ea typeface="Cambria" panose="02040503050406030204" pitchFamily="18" charset="0"/>
              </a:rPr>
              <a:t>. </a:t>
            </a:r>
          </a:p>
          <a:p>
            <a:r>
              <a:rPr lang="en-US" altLang="en-US" sz="2000" dirty="0">
                <a:latin typeface="+mj-lt"/>
                <a:ea typeface="Cambria" panose="02040503050406030204" pitchFamily="18" charset="0"/>
              </a:rPr>
              <a:t>[8]</a:t>
            </a:r>
            <a:r>
              <a:rPr lang="en-US" sz="2000" i="1" dirty="0">
                <a:latin typeface="+mj-lt"/>
              </a:rPr>
              <a:t> Firer et al. (2025)</a:t>
            </a:r>
            <a:r>
              <a:rPr lang="en-US" sz="2000" dirty="0">
                <a:latin typeface="+mj-lt"/>
              </a:rPr>
              <a:t> - "Features of automation of university schedule management through Class Schedule WEB application"</a:t>
            </a:r>
            <a:r>
              <a:rPr lang="en-US" altLang="en-US" sz="2000" dirty="0">
                <a:latin typeface="+mj-lt"/>
                <a:ea typeface="Cambria" panose="02040503050406030204" pitchFamily="18" charset="0"/>
              </a:rPr>
              <a:t>. </a:t>
            </a:r>
          </a:p>
          <a:p>
            <a:endParaRPr lang="en-US" altLang="en-US" sz="2000" dirty="0">
              <a:latin typeface="+mj-lt"/>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Cambria" panose="02040503050406030204" pitchFamily="18" charset="0"/>
                <a:ea typeface="Cambria" panose="02040503050406030204" pitchFamily="18" charset="0"/>
                <a:sym typeface="+mn-ea"/>
              </a:rPr>
              <a:t>References (IEEE Paper format)</a:t>
            </a:r>
            <a:endParaRPr lang="en-US"/>
          </a:p>
        </p:txBody>
      </p:sp>
      <p:sp>
        <p:nvSpPr>
          <p:cNvPr id="3" name="Text Placeholder 2"/>
          <p:cNvSpPr>
            <a:spLocks noGrp="1"/>
          </p:cNvSpPr>
          <p:nvPr>
            <p:ph type="body" idx="1"/>
          </p:nvPr>
        </p:nvSpPr>
        <p:spPr/>
        <p:txBody>
          <a:bodyPr/>
          <a:lstStyle/>
          <a:p>
            <a:r>
              <a:rPr lang="en-US" altLang="en-US" sz="1800" dirty="0">
                <a:latin typeface="+mj-lt"/>
                <a:ea typeface="Cambria" panose="02040503050406030204" pitchFamily="18" charset="0"/>
              </a:rPr>
              <a:t>[9]</a:t>
            </a:r>
            <a:r>
              <a:rPr lang="en-US" sz="1800" i="1" dirty="0">
                <a:latin typeface="+mj-lt"/>
              </a:rPr>
              <a:t> </a:t>
            </a:r>
            <a:r>
              <a:rPr lang="en-US" sz="1800" i="1" dirty="0" err="1">
                <a:latin typeface="+mj-lt"/>
              </a:rPr>
              <a:t>Shirsat</a:t>
            </a:r>
            <a:r>
              <a:rPr lang="en-US" sz="1800" i="1" dirty="0">
                <a:latin typeface="+mj-lt"/>
              </a:rPr>
              <a:t> et al. (2025)</a:t>
            </a:r>
            <a:r>
              <a:rPr lang="en-US" sz="1800" dirty="0">
                <a:latin typeface="+mj-lt"/>
              </a:rPr>
              <a:t> - "Automated Timetable Scheduler For Colleges: A Smart Solution"</a:t>
            </a:r>
            <a:r>
              <a:rPr lang="en-US" altLang="en-US" sz="1800" dirty="0">
                <a:latin typeface="+mj-lt"/>
                <a:ea typeface="Cambria" panose="02040503050406030204" pitchFamily="18" charset="0"/>
              </a:rPr>
              <a:t>. </a:t>
            </a:r>
          </a:p>
          <a:p>
            <a:endParaRPr lang="en-US" altLang="en-US" sz="1800" dirty="0">
              <a:latin typeface="+mj-lt"/>
              <a:ea typeface="Cambria" panose="02040503050406030204" pitchFamily="18" charset="0"/>
            </a:endParaRPr>
          </a:p>
          <a:p>
            <a:r>
              <a:rPr lang="en-US" altLang="en-US" sz="1800" dirty="0">
                <a:latin typeface="+mj-lt"/>
                <a:ea typeface="Cambria" panose="02040503050406030204" pitchFamily="18" charset="0"/>
              </a:rPr>
              <a:t>[10]</a:t>
            </a:r>
            <a:r>
              <a:rPr lang="en-US" sz="1800" i="1" dirty="0">
                <a:latin typeface="+mj-lt"/>
              </a:rPr>
              <a:t> Mohamed Faizal (2022)</a:t>
            </a:r>
            <a:r>
              <a:rPr lang="en-US" sz="1800" dirty="0">
                <a:latin typeface="+mj-lt"/>
              </a:rPr>
              <a:t> - "College Timetable using Time Scheduling Algorithm"</a:t>
            </a:r>
            <a:endParaRPr lang="en-US" altLang="en-US" sz="1800" dirty="0">
              <a:latin typeface="+mj-lt"/>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1717</Words>
  <Application>Microsoft Office PowerPoint</Application>
  <PresentationFormat>Widescreen</PresentationFormat>
  <Paragraphs>126</Paragraphs>
  <Slides>15</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vt:lpstr>
      <vt:lpstr>Verdana</vt:lpstr>
      <vt:lpstr>Wingdings</vt:lpstr>
      <vt:lpstr>Bioinformatics</vt:lpstr>
      <vt:lpstr>SMART CLASSROOM AND TIMETABLE SCHEDULAR</vt:lpstr>
      <vt:lpstr>CONTENT</vt:lpstr>
      <vt:lpstr>Abstract</vt:lpstr>
      <vt:lpstr>LITERATURE SURVEY</vt:lpstr>
      <vt:lpstr>LITERATURE SURVEY</vt:lpstr>
      <vt:lpstr>LITERATURE SURVEY</vt:lpstr>
      <vt:lpstr>Analysis of Problem Statement</vt:lpstr>
      <vt:lpstr>Existing methods and drawbacks:</vt:lpstr>
      <vt:lpstr>Proposed Method &amp; Feasibility Study </vt:lpstr>
      <vt:lpstr>Architecture Diagram</vt:lpstr>
      <vt:lpstr>Hardware and Software Details</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sunilpandab37@outlook.com</cp:lastModifiedBy>
  <cp:revision>64</cp:revision>
  <dcterms:created xsi:type="dcterms:W3CDTF">2025-08-19T06:05:00Z</dcterms:created>
  <dcterms:modified xsi:type="dcterms:W3CDTF">2026-01-27T05:30:49Z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B6BE9A124A314C86A1DE1C18DF706D57_13</vt:lpwstr>
  </property>
  <property fmtid="{D5CDD505-2E9C-101B-9397-08002B2CF9AE}" pid="3" name="KSOProductBuildVer">
    <vt:lpwstr>1033-12.2.0.22530</vt:lpwstr>
  </property>
</Properties>
</file>