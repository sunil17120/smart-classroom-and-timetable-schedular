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72" r:id="rId4"/>
    <p:sldId id="281" r:id="rId5"/>
    <p:sldId id="280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84" r:id="rId15"/>
    <p:sldId id="265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65D"/>
    <a:srgbClr val="516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1688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SMART CLASSROOM AND TIMETABLE SCHEDULAR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Number:com_9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Mr. Laxman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Professor of practice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197505" y="2721840"/>
          <a:ext cx="5774517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221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2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512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20221COM0017     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Nishanka</a:t>
                      </a:r>
                      <a:r>
                        <a:rPr lang="en-IN" sz="1800" u="none" strike="noStrike" cap="none" baseline="0" dirty="0"/>
                        <a:t>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20221COM0031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Krishna</a:t>
                      </a:r>
                      <a:r>
                        <a:rPr lang="en-IN" sz="1800" u="none" strike="noStrike" cap="none" baseline="0" dirty="0"/>
                        <a:t> Sai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20221COM0034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Sunil</a:t>
                      </a:r>
                      <a:r>
                        <a:rPr lang="en-IN" sz="1800" u="none" strike="noStrike" cap="none" baseline="0" dirty="0"/>
                        <a:t> Kumar </a:t>
                      </a:r>
                      <a:r>
                        <a:rPr lang="en-IN" sz="1800" u="none" strike="noStrike" cap="none" baseline="0" dirty="0" err="1"/>
                        <a:t>Pandab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Computer Engineering with specialization in Artificial Intelligence and Machine Learning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Krishna Shyam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Sumitha </a:t>
            </a:r>
            <a:r>
              <a:rPr lang="en-US" sz="18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Guddin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94590" y="1323132"/>
            <a:ext cx="5577609" cy="312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</a:p>
          <a:p>
            <a:pPr marL="495300" lvl="0" indent="-34290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18037" y="1323132"/>
            <a:ext cx="4752108" cy="440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 panose="020B0604030504040204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</a:rPr>
              <a:t>System Implementation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sym typeface="Verdana" panose="020B0604030504040204"/>
            </a:endParaRPr>
          </a:p>
          <a:p>
            <a:pPr marL="495300" lvl="0" indent="-342900" algn="just">
              <a:lnSpc>
                <a:spcPct val="200000"/>
              </a:lnSpc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400" dirty="0"/>
              <a:t>Results &amp; Performance Evaluation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sym typeface="Verdana" panose="020B0604030504040204"/>
            </a:endParaRPr>
          </a:p>
          <a:p>
            <a:pPr marL="495300" lvl="0" indent="-342900" algn="just">
              <a:lnSpc>
                <a:spcPct val="200000"/>
              </a:lnSpc>
              <a:buSzPts val="2400"/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</a:rPr>
              <a:t>UI Demonstration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sym typeface="Verdana" panose="020B0604030504040204"/>
            </a:endParaRP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 panose="020B0604030504040204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solidFill>
                  <a:srgbClr val="516074"/>
                </a:solidFill>
                <a:sym typeface="+mn-ea"/>
              </a:rPr>
              <a:t>Existing methods and drawbacks:</a:t>
            </a:r>
            <a:endParaRPr lang="en-US" dirty="0">
              <a:solidFill>
                <a:srgbClr val="516074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A05E4C-637F-E5AD-EBD2-239CA34E6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625318"/>
              </p:ext>
            </p:extLst>
          </p:nvPr>
        </p:nvGraphicFramePr>
        <p:xfrm>
          <a:off x="812800" y="1260987"/>
          <a:ext cx="10668000" cy="39624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41639596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03033873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07712267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6563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Methodology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Algorithm(s)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 Strengths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Specific Drawbacks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985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Evolutionary Computing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Genetic Algorithm (GA), NSGA-II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Efficiently searches massive datasets; excellent for global optimization.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Local Optima:</a:t>
                      </a:r>
                      <a:r>
                        <a:rPr lang="en-US"/>
                        <a:t> Can get "stuck" in a good-but-not-perfect solution early 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755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Swarm Intelligence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Spotted Hyena (SHO), Firefly (FA)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precision; excels at finding the "best possible" fit for complex constraints.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High Latency:</a:t>
                      </a:r>
                      <a:r>
                        <a:rPr lang="en-US"/>
                        <a:t> Significant computational time compared to simpler models.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343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Neural Models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Artificial Neural Networks (ANN)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Adaptive; learns from historical data and faculty leave patterns.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"Black Box" Logic:</a:t>
                      </a:r>
                      <a:r>
                        <a:rPr lang="en-US"/>
                        <a:t> Hard for humans to understand or manually tweak the results.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64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Constraint Logic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Rule-Based, CSP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Straightforward implementation; great for simple, fixed schedules.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Lack of Scalability:</a:t>
                      </a:r>
                      <a:r>
                        <a:rPr lang="en-US"/>
                        <a:t> Breaks down when facing cross-departmental dependencies.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251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Web-Based Tools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 / Flask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accessibility; user-friendly dashboards for staff and students.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Static Nature:</a:t>
                      </a:r>
                      <a:r>
                        <a:rPr lang="en-US" dirty="0"/>
                        <a:t> Often focuses on data display rathe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2860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Proposed Method &amp; Feasibility </a:t>
            </a:r>
            <a:r>
              <a:rPr lang="en-US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Study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76200" indent="0">
              <a:buNone/>
            </a:pPr>
            <a:r>
              <a:rPr lang="en-US" sz="1600" b="1" dirty="0"/>
              <a:t>Phase I: Data Collection &amp; Preprocessing </a:t>
            </a:r>
          </a:p>
          <a:p>
            <a:r>
              <a:rPr lang="en-US" sz="1400" b="1" dirty="0"/>
              <a:t>Structured Storage</a:t>
            </a:r>
            <a:r>
              <a:rPr lang="en-US" sz="1400" dirty="0"/>
              <a:t>: Store faculty information, subject loads, and room capacities in a relational database (PostgreSQL) or JSON format.</a:t>
            </a:r>
          </a:p>
          <a:p>
            <a:r>
              <a:rPr lang="en-US" sz="1400" b="1" dirty="0"/>
              <a:t>Constraint Normalization</a:t>
            </a:r>
            <a:r>
              <a:rPr lang="en-US" sz="1400" dirty="0"/>
              <a:t>: Preprocess data to identify "Hard" (non-negotiable) and "Soft" (desirable) constraints.</a:t>
            </a:r>
          </a:p>
          <a:p>
            <a:pPr marL="76200" indent="0">
              <a:buNone/>
            </a:pPr>
            <a:r>
              <a:rPr lang="en-US" sz="1600" b="1" dirty="0"/>
              <a:t>Phase II: The Hybrid Scheduling Engine </a:t>
            </a:r>
          </a:p>
          <a:p>
            <a:r>
              <a:rPr lang="en-US" sz="1400" b="1" dirty="0"/>
              <a:t>Step 1: Global Search (GA)</a:t>
            </a:r>
            <a:r>
              <a:rPr lang="en-US" sz="1400" dirty="0"/>
              <a:t>: Initialize a population of random timetables. Use selection, crossover, and mutation to evolve towards a conflict-free "chromosomal" representation.</a:t>
            </a:r>
          </a:p>
          <a:p>
            <a:r>
              <a:rPr lang="en-US" sz="1400" b="1" dirty="0"/>
              <a:t>Step 2: Local Repair (Simulated Annealing)</a:t>
            </a:r>
            <a:r>
              <a:rPr lang="en-US" sz="1400" dirty="0"/>
              <a:t>: To prevent the GA from stalling (Local Optima), apply </a:t>
            </a:r>
            <a:r>
              <a:rPr lang="en-US" sz="1400" b="1" dirty="0"/>
              <a:t>Simulated Annealing (SA)</a:t>
            </a:r>
            <a:r>
              <a:rPr lang="en-US" sz="1400" dirty="0"/>
              <a:t>. SA "polishes" the best results by exploring neighboring solutions and accepting small "worse" moves temporarily to jump out of dead zones.</a:t>
            </a:r>
          </a:p>
          <a:p>
            <a:r>
              <a:rPr lang="en-US" sz="1400" b="1" dirty="0"/>
              <a:t>Step 3: Machine Learning Refinement</a:t>
            </a:r>
            <a:r>
              <a:rPr lang="en-US" sz="1400" dirty="0"/>
              <a:t>: Use a </a:t>
            </a:r>
            <a:r>
              <a:rPr lang="en-US" sz="1400" b="1" dirty="0"/>
              <a:t>supervised learning model</a:t>
            </a:r>
            <a:r>
              <a:rPr lang="en-US" sz="1400" dirty="0"/>
              <a:t> (e.g., Random Forest) to evaluate historical "quality" scores and predict which room-slot pairs lead to the highest faculty satisfaction.</a:t>
            </a:r>
          </a:p>
          <a:p>
            <a:pPr marL="76200" indent="0">
              <a:buNone/>
            </a:pPr>
            <a:r>
              <a:rPr lang="en-US" sz="1600" b="1" dirty="0"/>
              <a:t>Phase III: Real-Time Adaptation Module </a:t>
            </a:r>
          </a:p>
          <a:p>
            <a:r>
              <a:rPr lang="en-US" sz="1400" b="1" dirty="0"/>
              <a:t>Dynamic Adjustment</a:t>
            </a:r>
            <a:r>
              <a:rPr lang="en-US" sz="1400" dirty="0"/>
              <a:t>: Implement </a:t>
            </a:r>
            <a:r>
              <a:rPr lang="en-US" sz="1400" b="1" dirty="0" err="1"/>
              <a:t>WebSockets</a:t>
            </a:r>
            <a:r>
              <a:rPr lang="en-US" sz="1400" dirty="0"/>
              <a:t> for instant updates. If a faculty member marks an absence, the system triggers a "Local Repair" instead of a full regeneration, finding a substitute room or teacher without disrupting the rest of the schedule.</a:t>
            </a:r>
          </a:p>
          <a:p>
            <a:pPr marL="558800" lvl="1" indent="0">
              <a:buNone/>
            </a:pPr>
            <a:endParaRPr lang="en-US" alt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 panose="020B0604030504040204"/>
              </a:rPr>
              <a:t>Architecture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D6D31-3D78-AF20-C25D-4BB32037D7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62" b="7262"/>
          <a:stretch/>
        </p:blipFill>
        <p:spPr>
          <a:xfrm>
            <a:off x="1474840" y="1435510"/>
            <a:ext cx="8849032" cy="41064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9A87E-BE35-1303-17FA-C3F8CE79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58" y="31548"/>
            <a:ext cx="10363200" cy="1362000"/>
          </a:xfrm>
        </p:spPr>
        <p:txBody>
          <a:bodyPr/>
          <a:lstStyle/>
          <a:p>
            <a:r>
              <a:rPr lang="en-IN" sz="2000" dirty="0">
                <a:solidFill>
                  <a:schemeClr val="tx1"/>
                </a:solidFill>
              </a:rPr>
              <a:t>System Implementation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0D9B7F-1B5D-B3B8-8965-57D72316C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4550" y="1067406"/>
            <a:ext cx="881191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Framework: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a modular backend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(Python) rather than the initially proposed Flask, ensuring higher performance and native asynchronous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Interface: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a dynamic, responsive UI using React JS and Vite, styled with custom CSS variables for a modern dashboard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Utilized PostgreSQL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SQLAlchemy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ORM for relational data storage, successfully migrating away from flat-file vulnerabilities.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Integrated JWT (JSON Web Tokens)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bcrypt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password hashing for secure Admin, Teacher, and Student role-based access.</a:t>
            </a:r>
          </a:p>
        </p:txBody>
      </p:sp>
    </p:spTree>
    <p:extLst>
      <p:ext uri="{BB962C8B-B14F-4D97-AF65-F5344CB8AC3E}">
        <p14:creationId xmlns:p14="http://schemas.microsoft.com/office/powerpoint/2010/main" val="3784288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C5BE-1CFD-84FE-8836-FB771097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D4E3-E0F7-A71A-1E1D-55ECF2E3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58" y="31548"/>
            <a:ext cx="10363200" cy="1362000"/>
          </a:xfrm>
        </p:spPr>
        <p:txBody>
          <a:bodyPr/>
          <a:lstStyle/>
          <a:p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The Hybrid Scheduling Engine in Action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03C3FF-C222-361E-AA07-494854450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9458" y="1332798"/>
            <a:ext cx="83758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generates an initial population representing potential schedules.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Fitness Function: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Schedules are penalized based on a strict conflict-scoring system: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3FF3A91-19A4-EDAA-C5DF-37758B4575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00598" y="2505670"/>
            <a:ext cx="1160254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+100 penalty for Teacher double-booking.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+100 penalty for Room double-booking.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+200 penalty for Section double-booking.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5A736D9-10E3-B593-338C-A74016266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58" y="3445111"/>
            <a:ext cx="926444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 Pipeline: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Simulated Annealing (SA):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Explores neighboring solutions to resolve localized bottlenecks and escape local optima.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Genetic Algorithm (GA) &amp; SHO: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Applies crossover and Spotted Hyena Optimization mutation bounds to evolve the schedule toward a zero-conflict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64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4BEE-73D7-315E-2272-77EB96BF2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Data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9F16C-B827-5074-74EF-4DD93F8B2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To prove your system isn't just theoretical, but handles actual university scale (pulling from database.py).</a:t>
            </a:r>
          </a:p>
          <a:p>
            <a:r>
              <a:rPr lang="en-US" b="1" dirty="0"/>
              <a:t>Curriculum Mapping:</a:t>
            </a:r>
            <a:r>
              <a:rPr lang="en-US" dirty="0"/>
              <a:t> Successfully seeded the database with the real Presidency University curriculum structure.</a:t>
            </a:r>
          </a:p>
          <a:p>
            <a:r>
              <a:rPr lang="en-US" b="1" dirty="0"/>
              <a:t>Scale of Execution:</a:t>
            </a:r>
            <a:endParaRPr lang="en-US" dirty="0"/>
          </a:p>
          <a:p>
            <a:pPr lvl="1"/>
            <a:r>
              <a:rPr lang="en-US" b="1" dirty="0"/>
              <a:t>135</a:t>
            </a:r>
            <a:r>
              <a:rPr lang="en-US" dirty="0"/>
              <a:t> Real Faculty Members with reverse-engineered subject expertise arrays.</a:t>
            </a:r>
          </a:p>
          <a:p>
            <a:pPr lvl="1"/>
            <a:r>
              <a:rPr lang="en-US" b="1" dirty="0"/>
              <a:t>112</a:t>
            </a:r>
            <a:r>
              <a:rPr lang="en-US" dirty="0"/>
              <a:t> Unique Courses (Theory and Lab separated).</a:t>
            </a:r>
          </a:p>
          <a:p>
            <a:pPr lvl="1"/>
            <a:r>
              <a:rPr lang="en-US" b="1" dirty="0"/>
              <a:t>87</a:t>
            </a:r>
            <a:r>
              <a:rPr lang="en-US" dirty="0"/>
              <a:t> Distinct Student Sections across multiple years and branches.</a:t>
            </a:r>
          </a:p>
          <a:p>
            <a:pPr lvl="1"/>
            <a:r>
              <a:rPr lang="en-US" dirty="0"/>
              <a:t>Dozens of specific physical resources (Lecture Halls vs. Software-equipped Labs).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74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8AEC-F4FE-2FFE-A545-31CEF2CD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Integration &amp; Contextual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958AB-1334-F30B-645C-BEAF04ECD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en-US" dirty="0"/>
              <a:t>To highlight the Gemini AI integrations which elevate this from a standard scheduler to a "Smart" system.</a:t>
            </a:r>
          </a:p>
          <a:p>
            <a:r>
              <a:rPr lang="en-US" b="1" dirty="0"/>
              <a:t>Smart Room Allocation:</a:t>
            </a:r>
            <a:r>
              <a:rPr lang="en-US" dirty="0"/>
              <a:t> Implemented an AI-driven enrichment function (</a:t>
            </a:r>
            <a:r>
              <a:rPr lang="en-US" dirty="0" err="1"/>
              <a:t>ai_enrich_and_map_rooms</a:t>
            </a:r>
            <a:r>
              <a:rPr lang="en-US" dirty="0"/>
              <a:t>) that parses course requirements and automatically maps them to appropriate physical rooms (e.g., ensuring lab courses get assigned to lab rooms).</a:t>
            </a:r>
          </a:p>
          <a:p>
            <a:pPr marL="76200" indent="0">
              <a:buNone/>
            </a:pPr>
            <a:endParaRPr lang="en-US" dirty="0"/>
          </a:p>
          <a:p>
            <a:r>
              <a:rPr lang="en-US" b="1" dirty="0"/>
              <a:t>Expertise Inference:</a:t>
            </a:r>
            <a:r>
              <a:rPr lang="en-US" dirty="0"/>
              <a:t> Built an AI-powered substitution recommendation engine. When a teacher is absent, the system queries Gemini to analyze the active schedules of free teachers, inferring their academic domains to recommend the most highly qualified substitute.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674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9AF9-0834-EB3D-806B-3ED617185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Substitution &amp; Adaptation Module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2BCB9E-B44D-621F-2EB4-6B3F70E97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077745"/>
            <a:ext cx="979825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address the "Real-Time Adaptation" promise from Review-2.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Workflows: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an API-driven substitution request system where faculty can request cover for specific time slots.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Targeted Resolution: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a substitution is accepted, the system executes a "Local Repair" on the database schedule without requiring a full, computationally expensive regeneration of the entire university timetable.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145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8B567-E4A3-9354-9D78-D20A55DD6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Performance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FD459-BD14-B346-71BE-1ABDF8B15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To show the panel that the system actually works. </a:t>
            </a:r>
            <a:r>
              <a:rPr lang="en-US" i="1" dirty="0"/>
              <a:t>(Note: You will need to run your code to get these exact numbers for the presentation).</a:t>
            </a:r>
            <a:endParaRPr lang="en-US" dirty="0"/>
          </a:p>
          <a:p>
            <a:r>
              <a:rPr lang="en-US" b="1" dirty="0"/>
              <a:t>Convergence Rate:</a:t>
            </a:r>
            <a:r>
              <a:rPr lang="en-US" dirty="0"/>
              <a:t> Show how many iterations it typically takes for the </a:t>
            </a:r>
            <a:r>
              <a:rPr lang="en-US" dirty="0" err="1"/>
              <a:t>HybridGeneticSHOSolver</a:t>
            </a:r>
            <a:r>
              <a:rPr lang="en-US" dirty="0"/>
              <a:t> to reach a fitness score of 0 (zero conflicts).</a:t>
            </a:r>
          </a:p>
          <a:p>
            <a:r>
              <a:rPr lang="en-US" b="1" dirty="0"/>
              <a:t>Time to Generate:</a:t>
            </a:r>
            <a:r>
              <a:rPr lang="en-US" dirty="0"/>
              <a:t> Detail the execution time (in seconds/minutes) required to generate a schedule for the massive 87-section dataset.</a:t>
            </a:r>
          </a:p>
          <a:p>
            <a:r>
              <a:rPr lang="en-US" b="1" dirty="0"/>
              <a:t>Constraint Adherence:</a:t>
            </a:r>
            <a:r>
              <a:rPr lang="en-US" dirty="0"/>
              <a:t> Reiterate that 100% of Hard Constraints (no double bookings) are met.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206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C468-0613-7503-94D1-CEACF71C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UI Demonstration (Screenshots)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6CD68-EFCC-692F-BCEF-18C9809A1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Admin Dashboard-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6F4-EE40-BC50-829F-3EB28939138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84723" y="1600203"/>
            <a:ext cx="6381135" cy="4526100"/>
          </a:xfrm>
        </p:spPr>
        <p:txBody>
          <a:bodyPr/>
          <a:lstStyle/>
          <a:p>
            <a:r>
              <a:rPr lang="en-IN" dirty="0"/>
              <a:t>The generated Timetable view-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BFD63-AAA7-9277-9790-5B9F7FEFC9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4230" y="2192593"/>
            <a:ext cx="4294351" cy="3547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73D481-52A0-0F40-4A19-C6BF040F3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2290916"/>
            <a:ext cx="5222924" cy="373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81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95C0-9A95-41E4-E48F-CFF4674F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UI Demonstration (Screenshots)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0EC08-9A38-13DE-D2B6-6320EE5F8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Teacher Substitution request portal-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A5B34-69CC-2A08-949A-1F6DF8217A9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9CEE3A-9314-EC25-4637-0E573EB5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28566"/>
            <a:ext cx="5150983" cy="40788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75F6CB-2F41-AA88-386D-A892ED825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480" y="1340455"/>
            <a:ext cx="5962533" cy="478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03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noProof="0" dirty="0">
                <a:ln>
                  <a:noFill/>
                </a:ln>
                <a:solidFill>
                  <a:srgbClr val="17365D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 panose="020B0604030504040204"/>
              </a:rPr>
              <a:t>Hardware and Software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Hardware: 8–12 GB VRAM GPU (e.g., RTX 3060), 32–64 GB RAM, ≥1 TB SSD; optional RTK UAV (DJI/Parrot).</a:t>
            </a:r>
          </a:p>
          <a:p>
            <a:pPr marL="76200" indent="0"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680720" y="1052195"/>
            <a:ext cx="10668000" cy="502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[1]</a:t>
            </a:r>
            <a:r>
              <a:rPr lang="en-US" sz="2000" i="1" dirty="0">
                <a:latin typeface="+mj-lt"/>
              </a:rPr>
              <a:t> Nguyen &amp; Nguyen (2021)</a:t>
            </a:r>
            <a:r>
              <a:rPr lang="en-US" sz="2000" dirty="0">
                <a:latin typeface="+mj-lt"/>
              </a:rPr>
              <a:t> - "An SHO-based approach to timetable scheduling: a case study"</a:t>
            </a:r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. </a:t>
            </a:r>
          </a:p>
          <a:p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[2]</a:t>
            </a:r>
            <a:r>
              <a:rPr lang="en-IN" sz="2000" i="1" dirty="0">
                <a:latin typeface="+mj-lt"/>
              </a:rPr>
              <a:t> Dhiman &amp; Kumar (2018)</a:t>
            </a:r>
            <a:r>
              <a:rPr lang="en-IN" sz="2000" dirty="0">
                <a:latin typeface="+mj-lt"/>
              </a:rPr>
              <a:t> - "Multi-objective spotted hyena optimizer"</a:t>
            </a:r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. </a:t>
            </a:r>
          </a:p>
          <a:p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[3]</a:t>
            </a:r>
            <a:r>
              <a:rPr lang="en-US" sz="2000" i="1" dirty="0">
                <a:latin typeface="+mj-lt"/>
              </a:rPr>
              <a:t> Goli et al. (2019)</a:t>
            </a:r>
            <a:r>
              <a:rPr lang="en-US" sz="2000" dirty="0">
                <a:latin typeface="+mj-lt"/>
              </a:rPr>
              <a:t> - "Solving a University Exam Scheduling Problem Using Genetic and Firefly Algorithms"</a:t>
            </a:r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. </a:t>
            </a:r>
          </a:p>
          <a:p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[4]</a:t>
            </a:r>
            <a:r>
              <a:rPr lang="en-US" sz="2000" i="1" dirty="0">
                <a:latin typeface="+mj-lt"/>
              </a:rPr>
              <a:t> Kumari Herath (2017)</a:t>
            </a:r>
            <a:r>
              <a:rPr lang="en-US" sz="2000" dirty="0">
                <a:latin typeface="+mj-lt"/>
              </a:rPr>
              <a:t> - "Genetic Algorithm For University Course Timetabling Problem"</a:t>
            </a:r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. </a:t>
            </a:r>
          </a:p>
          <a:p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[5]</a:t>
            </a:r>
            <a:r>
              <a:rPr lang="en-US" sz="2000" i="1" dirty="0">
                <a:latin typeface="+mj-lt"/>
              </a:rPr>
              <a:t> Shah et al. (2025)</a:t>
            </a:r>
            <a:r>
              <a:rPr lang="en-US" sz="2000" dirty="0">
                <a:latin typeface="+mj-lt"/>
              </a:rPr>
              <a:t> - "Optimizing Timetable Generation for Educational Institute Using Genetic Algorithm</a:t>
            </a:r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. </a:t>
            </a:r>
          </a:p>
          <a:p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[6]</a:t>
            </a:r>
            <a:r>
              <a:rPr lang="en-US" sz="2000" i="1" dirty="0">
                <a:latin typeface="+mj-lt"/>
              </a:rPr>
              <a:t> Alonge et al. (2025)</a:t>
            </a:r>
            <a:r>
              <a:rPr lang="en-US" sz="2000" dirty="0">
                <a:latin typeface="+mj-lt"/>
              </a:rPr>
              <a:t> - "An Automated Timetable Scheduler Using NSGA II for Optimized Scheduling</a:t>
            </a:r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. </a:t>
            </a:r>
          </a:p>
          <a:p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[7]</a:t>
            </a:r>
            <a:r>
              <a:rPr lang="en-US" sz="2000" i="1" dirty="0">
                <a:latin typeface="+mj-lt"/>
              </a:rPr>
              <a:t> Saw et al. (2025)</a:t>
            </a:r>
            <a:r>
              <a:rPr lang="en-US" sz="2000" dirty="0">
                <a:latin typeface="+mj-lt"/>
              </a:rPr>
              <a:t> - "Adaptive Scheduler: AI Optimization of Academic Timetable"</a:t>
            </a:r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. </a:t>
            </a:r>
          </a:p>
          <a:p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[8]</a:t>
            </a:r>
            <a:r>
              <a:rPr lang="en-US" sz="2000" i="1" dirty="0">
                <a:latin typeface="+mj-lt"/>
              </a:rPr>
              <a:t> Firer et al. (2025)</a:t>
            </a:r>
            <a:r>
              <a:rPr lang="en-US" sz="2000" dirty="0">
                <a:latin typeface="+mj-lt"/>
              </a:rPr>
              <a:t> - "Features of automation of university schedule management through Class Schedule WEB application"</a:t>
            </a:r>
            <a:r>
              <a:rPr lang="en-US" altLang="en-US" sz="2000" dirty="0">
                <a:latin typeface="+mj-lt"/>
                <a:ea typeface="Cambria" panose="02040503050406030204" pitchFamily="18" charset="0"/>
              </a:rPr>
              <a:t>. </a:t>
            </a:r>
          </a:p>
          <a:p>
            <a:endParaRPr lang="en-US" altLang="en-US" sz="2000" dirty="0">
              <a:latin typeface="+mj-lt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9371</TotalTime>
  <Words>1332</Words>
  <Application>Microsoft Office PowerPoint</Application>
  <PresentationFormat>Widescreen</PresentationFormat>
  <Paragraphs>125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Cambria</vt:lpstr>
      <vt:lpstr>Verdana</vt:lpstr>
      <vt:lpstr>Wingdings</vt:lpstr>
      <vt:lpstr>Bioinformatics</vt:lpstr>
      <vt:lpstr>SMART CLASSROOM AND TIMETABLE SCHEDULAR</vt:lpstr>
      <vt:lpstr>CONTENT</vt:lpstr>
      <vt:lpstr>Existing methods and drawbacks:</vt:lpstr>
      <vt:lpstr>Proposed Method &amp; Feasibility Study </vt:lpstr>
      <vt:lpstr>Architecture Diagram</vt:lpstr>
      <vt:lpstr>System Implementation </vt:lpstr>
      <vt:lpstr> The Hybrid Scheduling Engine in Action</vt:lpstr>
      <vt:lpstr>Real-World Data Integration</vt:lpstr>
      <vt:lpstr>AI Integration &amp; Contextual Inference</vt:lpstr>
      <vt:lpstr>Real-Time Substitution &amp; Adaptation Module</vt:lpstr>
      <vt:lpstr>Results &amp; Performance Evaluation</vt:lpstr>
      <vt:lpstr>UI Demonstration (Screenshots)</vt:lpstr>
      <vt:lpstr>UI Demonstration (Screenshots)</vt:lpstr>
      <vt:lpstr>Hardware and Software Details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sunilpandab37@outlook.com</cp:lastModifiedBy>
  <cp:revision>66</cp:revision>
  <dcterms:created xsi:type="dcterms:W3CDTF">2025-08-19T06:05:00Z</dcterms:created>
  <dcterms:modified xsi:type="dcterms:W3CDTF">2026-04-27T15:08:01Z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B6BE9A124A314C86A1DE1C18DF706D57_13</vt:lpwstr>
  </property>
  <property fmtid="{D5CDD505-2E9C-101B-9397-08002B2CF9AE}" pid="3" name="KSOProductBuildVer">
    <vt:lpwstr>1033-12.2.0.22530</vt:lpwstr>
  </property>
</Properties>
</file>