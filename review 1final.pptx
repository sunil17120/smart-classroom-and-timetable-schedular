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69" r:id="rId3"/>
    <p:sldId id="275" r:id="rId4"/>
    <p:sldId id="257" r:id="rId5"/>
    <p:sldId id="271" r:id="rId6"/>
    <p:sldId id="276" r:id="rId7"/>
    <p:sldId id="268" r:id="rId8"/>
    <p:sldId id="272" r:id="rId9"/>
    <p:sldId id="273" r:id="rId10"/>
    <p:sldId id="270" r:id="rId11"/>
    <p:sldId id="265" r:id="rId12"/>
    <p:sldId id="266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02" autoAdjust="0"/>
    <p:restoredTop sz="94660"/>
  </p:normalViewPr>
  <p:slideViewPr>
    <p:cSldViewPr snapToGrid="0">
      <p:cViewPr varScale="1">
        <p:scale>
          <a:sx n="78" d="100"/>
          <a:sy n="78" d="100"/>
        </p:scale>
        <p:origin x="92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42109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36789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SMART CLASSROOM AND TIMETABLE SCHEDULAR</a:t>
            </a:r>
            <a:endParaRPr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sym typeface="Verdana"/>
              </a:rPr>
              <a:t>Mr. Laxman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Professor / Associate Professor / 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1742143528"/>
              </p:ext>
            </p:extLst>
          </p:nvPr>
        </p:nvGraphicFramePr>
        <p:xfrm>
          <a:off x="197505" y="2721840"/>
          <a:ext cx="5774517" cy="219462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221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25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3512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51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800" u="none" strike="noStrike" cap="none" dirty="0"/>
                        <a:t>20221COM0017      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 err="1"/>
                        <a:t>Nishanka</a:t>
                      </a:r>
                      <a:r>
                        <a:rPr lang="en-IN" sz="1800" u="none" strike="noStrike" cap="none" baseline="0" dirty="0"/>
                        <a:t> M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51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20221COM0031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Krishna</a:t>
                      </a:r>
                      <a:r>
                        <a:rPr lang="en-IN" sz="1800" u="none" strike="noStrike" cap="none" baseline="0" dirty="0"/>
                        <a:t> Sai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51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20221COM0034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Sunil</a:t>
                      </a:r>
                      <a:r>
                        <a:rPr lang="en-IN" sz="1800" u="none" strike="noStrike" cap="none" baseline="0" dirty="0"/>
                        <a:t> Kumar </a:t>
                      </a:r>
                      <a:r>
                        <a:rPr lang="en-IN" sz="1800" u="none" strike="noStrike" cap="none" baseline="0" dirty="0" err="1"/>
                        <a:t>Pandab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51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51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Review-1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Computer Engineering with specialization in Artificial Intelligence and Machine Learning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Gopal Krishna Shyam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US" sz="1800" b="1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Ms. Sumitha </a:t>
            </a:r>
            <a:r>
              <a:rPr lang="en-US" sz="1800" b="1" i="0" u="none" strike="noStrike" cap="non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Guddin</a:t>
            </a:r>
            <a:endParaRPr lang="en-US" sz="1800" b="1" dirty="0">
              <a:solidFill>
                <a:schemeClr val="tx1">
                  <a:lumMod val="95000"/>
                  <a:lumOff val="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Sampath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K , 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Geetha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904240" y="274499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Number: 25028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342900" indent="-190500" algn="just">
              <a:spcBef>
                <a:spcPts val="0"/>
              </a:spcBef>
              <a:buNone/>
            </a:pP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Organization: Smart Education</a:t>
            </a:r>
          </a:p>
          <a:p>
            <a:pPr marL="342900" indent="-190500" algn="just">
              <a:spcBef>
                <a:spcPts val="0"/>
              </a:spcBef>
              <a:buNone/>
            </a:pPr>
            <a:endParaRPr lang="en-US" sz="18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None/>
            </a:pP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Category (Hardware / Software / Both) : Software</a:t>
            </a:r>
          </a:p>
          <a:p>
            <a:pPr marL="342900" indent="-190500" algn="just">
              <a:spcBef>
                <a:spcPts val="0"/>
              </a:spcBef>
              <a:buNone/>
            </a:pPr>
            <a:endParaRPr lang="en-US" sz="18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None/>
            </a:pP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Problem Description:</a:t>
            </a:r>
          </a:p>
          <a:p>
            <a:pPr marL="342900" indent="-190500" algn="just">
              <a:spcBef>
                <a:spcPts val="0"/>
              </a:spcBef>
              <a:buNone/>
            </a:pPr>
            <a:endParaRPr lang="en-US" sz="18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spcBef>
                <a:spcPts val="0"/>
              </a:spcBef>
              <a:buNone/>
            </a:pP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Background</a:t>
            </a:r>
          </a:p>
          <a:p>
            <a:pPr marL="342900" lvl="0" indent="-190500" algn="just">
              <a:spcBef>
                <a:spcPts val="0"/>
              </a:spcBef>
              <a:buNone/>
            </a:pPr>
            <a:endParaRPr lang="en-US" sz="18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spcBef>
                <a:spcPts val="0"/>
              </a:spcBef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Higher Education institutions often face challenges in efficient class scheduling due to limited</a:t>
            </a:r>
          </a:p>
          <a:p>
            <a:pPr marL="342900" lvl="0" indent="-190500" algn="just">
              <a:spcBef>
                <a:spcPts val="0"/>
              </a:spcBef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infrastructure, faculty constraints, elective courses, and overlapping departmental requirements. Manual</a:t>
            </a:r>
          </a:p>
          <a:p>
            <a:pPr marL="342900" lvl="0" indent="-190500" algn="just">
              <a:spcBef>
                <a:spcPts val="0"/>
              </a:spcBef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timetable preparation leads to frequent clashes in classes, underutilized classrooms, uneven workload</a:t>
            </a:r>
          </a:p>
          <a:p>
            <a:pPr marL="342900" lvl="0" indent="-190500" algn="just">
              <a:spcBef>
                <a:spcPts val="0"/>
              </a:spcBef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distribution, and dissatisfied students and faculty members. With the increasing adoption of</a:t>
            </a:r>
          </a:p>
          <a:p>
            <a:pPr marL="342900" lvl="0" indent="-190500" algn="just">
              <a:spcBef>
                <a:spcPts val="0"/>
              </a:spcBef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multidisciplinary curricula and flexible learning under NEP 2020, the class scheduling process has</a:t>
            </a:r>
          </a:p>
          <a:p>
            <a:pPr marL="342900" lvl="0" indent="-190500" algn="just">
              <a:spcBef>
                <a:spcPts val="0"/>
              </a:spcBef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Become more complex and dynamic, requiring intelligent and adaptive solutions.</a:t>
            </a:r>
          </a:p>
          <a:p>
            <a:pPr marL="342900" lvl="0" indent="-190500" algn="just">
              <a:spcBef>
                <a:spcPts val="0"/>
              </a:spcBef>
              <a:buNone/>
            </a:pP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spcBef>
                <a:spcPts val="0"/>
              </a:spcBef>
              <a:buNone/>
            </a:pP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Description</a:t>
            </a:r>
          </a:p>
          <a:p>
            <a:pPr marL="342900" lvl="0" indent="-190500" algn="just">
              <a:spcBef>
                <a:spcPts val="0"/>
              </a:spcBef>
              <a:buNone/>
            </a:pPr>
            <a:endParaRPr lang="en-US" sz="18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spcBef>
                <a:spcPts val="0"/>
              </a:spcBef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The current scheduling mechanism in most higher education institutes/colleges relies on manual input</a:t>
            </a:r>
          </a:p>
          <a:p>
            <a:pPr marL="342900" lvl="0" indent="-190500" algn="just">
              <a:spcBef>
                <a:spcPts val="0"/>
              </a:spcBef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via spreadsheets or basic tools. These fail to account for real-time availability of faculty, room capacity,</a:t>
            </a:r>
          </a:p>
          <a:p>
            <a:pPr marL="342900" lvl="0" indent="-190500" algn="just">
              <a:spcBef>
                <a:spcPts val="0"/>
              </a:spcBef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teaching load norms, subject combinations, and student preferences. A solution is required that will</a:t>
            </a:r>
          </a:p>
          <a:p>
            <a:pPr marL="342900" lvl="0" indent="-190500" algn="just">
              <a:spcBef>
                <a:spcPts val="0"/>
              </a:spcBef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accommodate the various parameters required for scheduling classes for UG and PG students and return</a:t>
            </a:r>
          </a:p>
          <a:p>
            <a:pPr marL="342900" lvl="0" indent="-190500" algn="just">
              <a:spcBef>
                <a:spcPts val="0"/>
              </a:spcBef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an optimized timetable ensuring:</a:t>
            </a: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6F4D0-FF08-C220-D217-C41B7D241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A3DC39-9717-A571-CA4B-2FD6D7C8EE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76200" indent="0"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*Maximized utilization of classrooms and laboratories</a:t>
            </a:r>
          </a:p>
          <a:p>
            <a:pPr marL="76200" indent="0"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*Minimized workload on faculty members and students</a:t>
            </a:r>
          </a:p>
          <a:p>
            <a:pPr marL="76200" indent="0"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* Achievement of required learning outcomes  </a:t>
            </a:r>
          </a:p>
          <a:p>
            <a:pPr marL="76200" indent="0">
              <a:buNone/>
            </a:pP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Key Parameters</a:t>
            </a:r>
          </a:p>
          <a:p>
            <a:pPr marL="76200" indent="0">
              <a:buNone/>
            </a:pPr>
            <a:r>
              <a:rPr lang="en-US" sz="1800" dirty="0">
                <a:latin typeface="Calisto MT" panose="02040603050505030304" pitchFamily="18" charset="0"/>
              </a:rPr>
              <a:t>The following parameters can be taken into account as variables for creating optimized timetables:</a:t>
            </a:r>
          </a:p>
          <a:p>
            <a:pPr>
              <a:buFontTx/>
              <a:buChar char="-"/>
            </a:pPr>
            <a:r>
              <a:rPr lang="en-US" sz="1800" dirty="0">
                <a:latin typeface="Calisto MT" panose="02040603050505030304" pitchFamily="18" charset="0"/>
              </a:rPr>
              <a:t>Number of classrooms available</a:t>
            </a:r>
          </a:p>
          <a:p>
            <a:pPr>
              <a:buFontTx/>
              <a:buChar char="-"/>
            </a:pPr>
            <a:r>
              <a:rPr lang="en-US" sz="1800" dirty="0">
                <a:latin typeface="Calisto MT" panose="02040603050505030304" pitchFamily="18" charset="0"/>
              </a:rPr>
              <a:t>Number of batches of students</a:t>
            </a:r>
          </a:p>
          <a:p>
            <a:pPr>
              <a:buFontTx/>
              <a:buChar char="-"/>
            </a:pPr>
            <a:r>
              <a:rPr lang="en-US" sz="1800" dirty="0">
                <a:latin typeface="Calisto MT" panose="02040603050505030304" pitchFamily="18" charset="0"/>
              </a:rPr>
              <a:t>Number of subjects to be taught in a particular semester</a:t>
            </a:r>
          </a:p>
          <a:p>
            <a:pPr>
              <a:buFontTx/>
              <a:buChar char="-"/>
            </a:pPr>
            <a:r>
              <a:rPr lang="en-US" sz="1800" dirty="0">
                <a:latin typeface="Calisto MT" panose="02040603050505030304" pitchFamily="18" charset="0"/>
              </a:rPr>
              <a:t>Names of subjects</a:t>
            </a:r>
          </a:p>
          <a:p>
            <a:pPr>
              <a:buFontTx/>
              <a:buChar char="-"/>
            </a:pPr>
            <a:r>
              <a:rPr lang="en-US" sz="1800" dirty="0">
                <a:latin typeface="Calisto MT" panose="02040603050505030304" pitchFamily="18" charset="0"/>
              </a:rPr>
              <a:t>Maximum number of classes per day</a:t>
            </a:r>
          </a:p>
          <a:p>
            <a:pPr>
              <a:buFontTx/>
              <a:buChar char="-"/>
            </a:pPr>
            <a:r>
              <a:rPr lang="en-US" sz="1800" dirty="0">
                <a:latin typeface="Calisto MT" panose="02040603050505030304" pitchFamily="18" charset="0"/>
              </a:rPr>
              <a:t>Number of classes to be conducted for a subject per week / per day</a:t>
            </a:r>
          </a:p>
          <a:p>
            <a:pPr>
              <a:buFontTx/>
              <a:buChar char="-"/>
            </a:pPr>
            <a:r>
              <a:rPr lang="en-US" sz="1800" dirty="0">
                <a:latin typeface="Calisto MT" panose="02040603050505030304" pitchFamily="18" charset="0"/>
              </a:rPr>
              <a:t>Number of faculties available for different subjects</a:t>
            </a:r>
          </a:p>
          <a:p>
            <a:pPr>
              <a:buFontTx/>
              <a:buChar char="-"/>
            </a:pPr>
            <a:r>
              <a:rPr lang="en-US" sz="1800" dirty="0">
                <a:latin typeface="Calisto MT" panose="02040603050505030304" pitchFamily="18" charset="0"/>
              </a:rPr>
              <a:t>Average number of leaves a faculty member takes in a month</a:t>
            </a:r>
          </a:p>
          <a:p>
            <a:pPr>
              <a:buFontTx/>
              <a:buChar char="-"/>
            </a:pPr>
            <a:r>
              <a:rPr lang="en-US" sz="1800" dirty="0">
                <a:latin typeface="Calisto MT" panose="02040603050505030304" pitchFamily="18" charset="0"/>
              </a:rPr>
              <a:t>Special classes that have fixed slots in timetable</a:t>
            </a:r>
            <a:endParaRPr lang="en-IN" sz="1800" dirty="0"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58510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466273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Background and Related work for title Selection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Innovation or Novel Contributions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Git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-hub Link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6200" indent="0">
              <a:buNone/>
            </a:pPr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1. Full Technology Stack</a:t>
            </a:r>
          </a:p>
          <a:p>
            <a:pPr marL="76200" indent="0">
              <a:buNone/>
            </a:pP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You can use this detailed list for the </a:t>
            </a:r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"Technology Stack Components"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 slide.</a:t>
            </a:r>
          </a:p>
          <a:p>
            <a:pPr marL="76200" indent="0">
              <a:buNone/>
            </a:pPr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Frontend (Client-Side)</a:t>
            </a:r>
          </a:p>
          <a:p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Core Framework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: React v18.2 (Component-based UI architecture)</a:t>
            </a:r>
          </a:p>
          <a:p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Language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: Python</a:t>
            </a:r>
          </a:p>
          <a:p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Styling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: Bootstrap CSS v3.4 (Utility-first CSS framework for responsive design)</a:t>
            </a:r>
          </a:p>
          <a:p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Routing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: React Router DOM v6.21 (Client-side routing)</a:t>
            </a:r>
          </a:p>
          <a:p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HTTP Client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: Axios v1.6 (Promise-based HTTP client for API requests)</a:t>
            </a:r>
          </a:p>
          <a:p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Linting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IN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ESLint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 + TypeScript-</a:t>
            </a:r>
            <a:r>
              <a:rPr lang="en-IN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ESLint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 (Code quality and consistency)</a:t>
            </a: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0455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D3D9F-EC56-72F4-B85A-6EB1A3F70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(contd...)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E14101-4D63-0323-6108-FA825FFC96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76200" indent="0">
              <a:buNone/>
            </a:pPr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Backend (Server-Side)</a:t>
            </a:r>
          </a:p>
          <a:p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Runtime Environment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IN" sz="1800" dirty="0" err="1"/>
              <a:t>FastAPI</a:t>
            </a:r>
            <a:r>
              <a:rPr lang="en-IN" sz="1800" dirty="0"/>
              <a:t> (Python)</a:t>
            </a: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Web Framework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IN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Next.Js</a:t>
            </a: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Language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: Python</a:t>
            </a:r>
          </a:p>
          <a:p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ORM (Object-Relational Mapping)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IN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Sql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 Alchemy</a:t>
            </a:r>
          </a:p>
          <a:p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File Export Engines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 lvl="1"/>
            <a:r>
              <a:rPr lang="en-IN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pdfkit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 v0.14 (PDF generation)</a:t>
            </a:r>
          </a:p>
          <a:p>
            <a:pPr lvl="1"/>
            <a:r>
              <a:rPr lang="en-IN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exceljs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 v4.4 (Excel spreadsheet generation)</a:t>
            </a:r>
          </a:p>
          <a:p>
            <a:pPr marL="76200" indent="0">
              <a:buNone/>
            </a:pPr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Database &amp; Security</a:t>
            </a:r>
          </a:p>
          <a:p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Database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: PostgreSQL (Relational Database System)</a:t>
            </a:r>
          </a:p>
          <a:p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Authentication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: JSON Web Tokens (JWT) v9.0 (Stateless authentication)</a:t>
            </a:r>
          </a:p>
          <a:p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Encryption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IN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Bcrypt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 v5.1 (Password hashing)</a:t>
            </a:r>
          </a:p>
          <a:p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Environment Management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IN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Dotenv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 v16.3 (Configuration management)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40366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380181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b="1" dirty="0" err="1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Github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Link</a:t>
            </a:r>
            <a:endParaRPr lang="en-US" b="1" u="sng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u="sng" dirty="0">
                <a:latin typeface="Cambria" panose="02040503050406030204" pitchFamily="18" charset="0"/>
                <a:ea typeface="Cambria" panose="02040503050406030204" pitchFamily="18" charset="0"/>
              </a:rPr>
              <a:t>https://github.com/Sunil17120/Smart-classroom-and-timetable-schedular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Visibility : Public</a:t>
            </a: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(contd...)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Software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 lvl="1"/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OS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: Cross-platform (Windows/Linux/macOS) due to Node.js environment.</a:t>
            </a:r>
          </a:p>
          <a:p>
            <a:pPr lvl="1"/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Database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: PostgreSQL instance.</a:t>
            </a:r>
          </a:p>
          <a:p>
            <a:pPr lvl="1"/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Client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: Modern Web Browser (Chrome/Edge) with JavaScript enabled.</a:t>
            </a:r>
          </a:p>
          <a:p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Hardware (Server)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 lvl="1"/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RAM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: Minimum 4GB (to handle in-memory timetable generation arrays).</a:t>
            </a:r>
          </a:p>
          <a:p>
            <a:pPr lvl="1"/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CPU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: Multi-core processor recommended for concurrent generation requests.</a:t>
            </a:r>
          </a:p>
        </p:txBody>
      </p:sp>
    </p:spTree>
    <p:extLst>
      <p:ext uri="{BB962C8B-B14F-4D97-AF65-F5344CB8AC3E}">
        <p14:creationId xmlns:p14="http://schemas.microsoft.com/office/powerpoint/2010/main" val="3338832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(contd...)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A9A2A7-22E5-EE54-633E-C948CFA94E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06582" y="1225046"/>
            <a:ext cx="10312858" cy="420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Algorithm Approach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 Randomized Heuristic Search (Greedy approach with multiple attempts).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Workflow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Initialization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 The system defines working days (Mon-Fri) and standard time slots (09:00 - 17:15).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Constraint Checking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Capacity Check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classroom.capacity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&lt;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requiredCapacity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Faculty Availability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 Verifies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maxClassesPerDay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limits.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Conflict Detection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 Uses a Hash Map (Map&lt;string, Set&lt;string&gt;&gt;)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to track occupied slots for Batches, Faculties, and Rooms in $O(1)$ 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Scoring Function: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Score= 100 - (Violations * 10) - (Variance*2) + (Utilization*10)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Note: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formula above is derived from the logic in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calculateScore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method.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800" b="1" dirty="0"/>
              <a:t>5.Genetic Algorithms (GA):</a:t>
            </a:r>
            <a:r>
              <a:rPr lang="en-US" sz="1800" dirty="0"/>
              <a:t> Explain that the system "evolves" timetables over generations to find the most optimal one with zero clashes 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964276" y="1346662"/>
            <a:ext cx="9493135" cy="377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F09162-ADB5-32CA-003B-A317E702FD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277" y="1346662"/>
            <a:ext cx="9894224" cy="429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[1]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 S. A. K. Al-Hajri, "Automating Timetable Generation with Conflict Resolution Algorithms in Web-Based Systems for Educational Institutions," </a:t>
            </a:r>
            <a:r>
              <a:rPr lang="en-IN" sz="1800" i="1" dirty="0">
                <a:latin typeface="Cambria" panose="02040503050406030204" pitchFamily="18" charset="0"/>
                <a:ea typeface="Cambria" panose="02040503050406030204" pitchFamily="18" charset="0"/>
              </a:rPr>
              <a:t>2023 Intelligent Computing and Control for Engineering and Business Systems (ICCEBS)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, Bangalore, India, 2023, pp. 1-6.</a:t>
            </a:r>
          </a:p>
          <a:p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[2]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 Z. L. Tan et al., "A Survey of University Course Timetabling Problem: Perspectives, Trends and Opportunities," </a:t>
            </a:r>
            <a:r>
              <a:rPr lang="en-IN" sz="1800" i="1" dirty="0">
                <a:latin typeface="Cambria" panose="02040503050406030204" pitchFamily="18" charset="0"/>
                <a:ea typeface="Cambria" panose="02040503050406030204" pitchFamily="18" charset="0"/>
              </a:rPr>
              <a:t>IEEE Access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, vol. 9, pp. 12111-12125, 2021.</a:t>
            </a:r>
          </a:p>
          <a:p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[3]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 M. A. Al-Betar et al., "Automated Timetabling System for University Course," </a:t>
            </a:r>
            <a:r>
              <a:rPr lang="en-IN" sz="1800" i="1" dirty="0">
                <a:latin typeface="Cambria" panose="02040503050406030204" pitchFamily="18" charset="0"/>
                <a:ea typeface="Cambria" panose="02040503050406030204" pitchFamily="18" charset="0"/>
              </a:rPr>
              <a:t>2021 International Conference on Emerging Smart Computing and Informatics (ESCI)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, Pune, India, 2021, pp. 45-50.</a:t>
            </a:r>
          </a:p>
          <a:p>
            <a:pPr marL="76200" indent="0">
              <a:buNone/>
            </a:pPr>
            <a:b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772</TotalTime>
  <Words>977</Words>
  <Application>Microsoft Office PowerPoint</Application>
  <PresentationFormat>Widescreen</PresentationFormat>
  <Paragraphs>131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Calisto MT</vt:lpstr>
      <vt:lpstr>Cambria</vt:lpstr>
      <vt:lpstr>Verdana</vt:lpstr>
      <vt:lpstr>Wingdings</vt:lpstr>
      <vt:lpstr>Bioinformatics</vt:lpstr>
      <vt:lpstr>SMART CLASSROOM AND TIMETABLE SCHEDULAR</vt:lpstr>
      <vt:lpstr>Problem Statement Number: 25028</vt:lpstr>
      <vt:lpstr>PowerPoint Presentation</vt:lpstr>
      <vt:lpstr>Content</vt:lpstr>
      <vt:lpstr>Analysis of Problem Statement</vt:lpstr>
      <vt:lpstr>Analysis of Problem Statement (contd...)</vt:lpstr>
      <vt:lpstr>Github Link</vt:lpstr>
      <vt:lpstr>Analysis of Problem Statement (contd...)</vt:lpstr>
      <vt:lpstr>Analysis of Problem Statement (contd...)</vt:lpstr>
      <vt:lpstr>Timeline of the Project (Gantt Chart)</vt:lpstr>
      <vt:lpstr>References (IEEE Paper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sunilpandab37@outlook.com</cp:lastModifiedBy>
  <cp:revision>52</cp:revision>
  <dcterms:modified xsi:type="dcterms:W3CDTF">2026-01-16T13:05:43Z</dcterms:modified>
</cp:coreProperties>
</file>